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52"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Risk</c:v>
                </c:pt>
              </c:strCache>
            </c:strRef>
          </c:tx>
          <c:spPr>
            <a:solidFill>
              <a:schemeClr val="accent1"/>
            </a:solidFill>
            <a:ln w="9525" cap="flat">
              <a:solidFill>
                <a:srgbClr val="F9F9F9"/>
              </a:solidFill>
              <a:prstDash val="solid"/>
              <a:round/>
            </a:ln>
            <a:effectLst/>
          </c:spPr>
          <c:dPt>
            <c:idx val="0"/>
            <c:bubble3D val="0"/>
            <c:spPr>
              <a:solidFill>
                <a:srgbClr val="0B5960"/>
              </a:solidFill>
              <a:ln w="9525" cap="flat">
                <a:solidFill>
                  <a:srgbClr val="FFFFFF"/>
                </a:solidFill>
                <a:prstDash val="solid"/>
                <a:round/>
              </a:ln>
              <a:effectLst/>
            </c:spPr>
            <c:extLst>
              <c:ext xmlns:c16="http://schemas.microsoft.com/office/drawing/2014/chart" uri="{C3380CC4-5D6E-409C-BE32-E72D297353CC}">
                <c16:uniqueId val="{00000001-AC3C-48D6-9E23-652B1F56E1AC}"/>
              </c:ext>
            </c:extLst>
          </c:dPt>
          <c:dPt>
            <c:idx val="1"/>
            <c:bubble3D val="0"/>
            <c:spPr>
              <a:solidFill>
                <a:srgbClr val="0E7C86"/>
              </a:solidFill>
              <a:ln w="9525" cap="flat">
                <a:solidFill>
                  <a:srgbClr val="FFFFFF"/>
                </a:solidFill>
                <a:prstDash val="solid"/>
                <a:round/>
              </a:ln>
              <a:effectLst/>
            </c:spPr>
            <c:extLst>
              <c:ext xmlns:c16="http://schemas.microsoft.com/office/drawing/2014/chart" uri="{C3380CC4-5D6E-409C-BE32-E72D297353CC}">
                <c16:uniqueId val="{00000003-AC3C-48D6-9E23-652B1F56E1AC}"/>
              </c:ext>
            </c:extLst>
          </c:dPt>
          <c:dPt>
            <c:idx val="2"/>
            <c:bubble3D val="0"/>
            <c:spPr>
              <a:solidFill>
                <a:srgbClr val="BFE6E6"/>
              </a:solidFill>
              <a:ln w="9525" cap="flat">
                <a:solidFill>
                  <a:srgbClr val="FFFFFF"/>
                </a:solidFill>
                <a:prstDash val="solid"/>
                <a:round/>
              </a:ln>
              <a:effectLst/>
            </c:spPr>
            <c:extLst>
              <c:ext xmlns:c16="http://schemas.microsoft.com/office/drawing/2014/chart" uri="{C3380CC4-5D6E-409C-BE32-E72D297353CC}">
                <c16:uniqueId val="{00000005-AC3C-48D6-9E23-652B1F56E1AC}"/>
              </c:ext>
            </c:extLst>
          </c:dPt>
          <c:cat>
            <c:strRef>
              <c:f>Sheet1!$A$2:$A$4</c:f>
              <c:strCache>
                <c:ptCount val="3"/>
                <c:pt idx="0">
                  <c:v>High (12)</c:v>
                </c:pt>
                <c:pt idx="1">
                  <c:v>Medium (24)</c:v>
                </c:pt>
                <c:pt idx="2">
                  <c:v>Low (14)</c:v>
                </c:pt>
              </c:strCache>
            </c:strRef>
          </c:cat>
          <c:val>
            <c:numRef>
              <c:f>Sheet1!$B$2:$B$4</c:f>
              <c:numCache>
                <c:formatCode>General</c:formatCode>
                <c:ptCount val="3"/>
                <c:pt idx="0">
                  <c:v>12</c:v>
                </c:pt>
                <c:pt idx="1">
                  <c:v>24</c:v>
                </c:pt>
                <c:pt idx="2">
                  <c:v>14</c:v>
                </c:pt>
              </c:numCache>
            </c:numRef>
          </c:val>
          <c:extLst>
            <c:ext xmlns:c16="http://schemas.microsoft.com/office/drawing/2014/chart" uri="{C3380CC4-5D6E-409C-BE32-E72D297353CC}">
              <c16:uniqueId val="{00000006-AC3C-48D6-9E23-652B1F56E1AC}"/>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r"/>
      <c:overlay val="0"/>
      <c:txPr>
        <a:bodyPr/>
        <a:lstStyle/>
        <a:p>
          <a:pPr>
            <a:defRPr sz="1000">
              <a:solidFill>
                <a:srgbClr val="26303A"/>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On-time delivery %</c:v>
                </c:pt>
              </c:strCache>
            </c:strRef>
          </c:tx>
          <c:spPr>
            <a:solidFill>
              <a:srgbClr val="0E7C86"/>
            </a:solidFill>
            <a:effectLst/>
          </c:spPr>
          <c:invertIfNegative val="0"/>
          <c:dLbls>
            <c:numFmt formatCode="0.0&quot;%&quot;" sourceLinked="0"/>
            <c:spPr>
              <a:noFill/>
              <a:ln>
                <a:noFill/>
              </a:ln>
              <a:effectLst/>
            </c:spPr>
            <c:txPr>
              <a:bodyPr/>
              <a:lstStyle/>
              <a:p>
                <a:pPr>
                  <a:defRPr sz="1000" b="0" i="0" u="none" strike="noStrike">
                    <a:solidFill>
                      <a:srgbClr val="2630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BIND567</c:v>
                </c:pt>
                <c:pt idx="1">
                  <c:v>CARB123</c:v>
                </c:pt>
                <c:pt idx="2">
                  <c:v>COAT890</c:v>
                </c:pt>
              </c:strCache>
            </c:strRef>
          </c:cat>
          <c:val>
            <c:numRef>
              <c:f>Sheet1!$B$2:$B$4</c:f>
              <c:numCache>
                <c:formatCode>General</c:formatCode>
                <c:ptCount val="3"/>
                <c:pt idx="0">
                  <c:v>99</c:v>
                </c:pt>
                <c:pt idx="1">
                  <c:v>90.25</c:v>
                </c:pt>
                <c:pt idx="2">
                  <c:v>84.2</c:v>
                </c:pt>
              </c:numCache>
            </c:numRef>
          </c:val>
          <c:extLst>
            <c:ext xmlns:c16="http://schemas.microsoft.com/office/drawing/2014/chart" uri="{C3380CC4-5D6E-409C-BE32-E72D297353CC}">
              <c16:uniqueId val="{00000000-7E2F-4FF5-93B7-D96907FE2AF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A82"/>
                </a:solidFill>
                <a:latin typeface="Calibri"/>
              </a:defRPr>
            </a:pPr>
            <a:endParaRPr lang="en-US"/>
          </a:p>
        </c:txPr>
        <c:crossAx val="2094734552"/>
        <c:crosses val="autoZero"/>
        <c:auto val="1"/>
        <c:lblAlgn val="ctr"/>
        <c:lblOffset val="100"/>
        <c:noMultiLvlLbl val="1"/>
      </c:catAx>
      <c:valAx>
        <c:axId val="2094734552"/>
        <c:scaling>
          <c:orientation val="minMax"/>
          <c:max val="100"/>
          <c:min val="7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for joining this compliance review of our supply chain. This report consolidates the findings from our expanded supply chain metrics workbook, covering 50 component records across five suppliers: EcoSupply, GlobalChem, NextGen Pharma, PrimeLogistics, and RawMatPlus. Over the next few slides I'll walk through the key issues we identified, the data behind them, the solutions we're proposing, and a phased implementation plan. The goal is a set of measurable, auditable actions that protect production continuity and keep us aligned with FDA compliance expectations.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issues frame the rest of the report. First, three components — BIND567, CARB123, and COAT890 — are our flagged delayed items and the primary focus for operational review. Second, COAT890 is the standout concern: its delayed-component on-time delivery averages just 84.2%, dropping as low as 81% on individual records. Third, risk is concentrated — we have 12 high-risk and 24 medium-risk records out of 50, and RawMatPlus carries the largest share of high-risk items. Fourth, supplier oversight has direct compliance weight: PrimeLogistics is our weakest-ranked supplier overall, and delivery and defect variability create audit, supplier-qualification, and FDA exposure. Each of these connects to a specific mitigation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metrics show a generally controlled environment: average on-time delivery of about 89.8%, supplier reliability around 92.4%, an average defect rate of 2.55%, and a quality inspection pass rate near 93.8%. But the aggregates hide concentration. The doughnut on the left breaks the 50 records into 12 high-risk, 24 medium-risk, and 14 low-risk — so roughly seven in ten records carry medium or high risk. Interestingly, medium-risk items actually have the longest average delivery timeline at about 15.1 days, versus 11.25 days for high-risk, meaning risk classification reflects defects, backorders, and reliability, not just duration. The bar chart on the right isolates the three flagged components: BIND567 holds strong at 99%, CARB123 averages 90.25%, but COAT890 falls to 84.2% — clearly our priority for delivery improvement.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solutions map directly to the issues and build on the mitigation plans already in the workbook — negotiating terms, reviewing contracts, expediting shipping, increasing inventory, and sourcing alternatives. Top priority is COAT890: review the suppliers tied to its weakest records near 81% on-time delivery and set firm corrective-action milestones. Because RawMatPlus carries the most high-risk items, we require supplier performance reviews, contract assessments, and documented improvement plans. Where delays or backorder volumes signal fragility, we apply alternate sourcing. We recalibrate safety stock and reorder points for high-usage or high-variance components, target quality improvement where defect rates run above the portfolio average, and — critically — track everything through a periodic scorecard so mitigation stays measurable and auditable.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plan sequences the work into four phases. In the first 30 days we focus on immediate triage — launching corrective action on COAT890 and opening supplier performance reviews for the flagged items. Days 30 to 60 shift to supplier governance: assessing RawMatPlus contracts and qualifying alternate sources for components with persistent delays. Days 60 to 90 build planning resilience by recalibrating safety stock and reorder points and deploying dynamic replenishment models to absorb demand and supplier variability. From there it becomes an ongoing, quarterly discipline: running the mitigation scorecard across on-time delivery, reliability, defect rate, quality pass rate, backorders, and lead-time variance. This cadence keeps remediation measurable, auditable, and aligned with production continuity and FDA compliance.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02196"/>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agent/turn1/workspace/images/modern-industrial-supply-chain-and-logistics-cargo_2026-07-04T13-16-58_image_DAS_0.jpg"/>
          <p:cNvPicPr>
            <a:picLocks noChangeAspect="1"/>
          </p:cNvPicPr>
          <p:nvPr/>
        </p:nvPicPr>
        <p:blipFill>
          <a:blip r:embed="rId3"/>
          <a:srcRect l="29989" r="29989"/>
          <a:stretch/>
        </p:blipFill>
        <p:spPr>
          <a:xfrm>
            <a:off x="5486400" y="0"/>
            <a:ext cx="3657600" cy="5143500"/>
          </a:xfrm>
          <a:prstGeom prst="rect">
            <a:avLst/>
          </a:prstGeom>
        </p:spPr>
      </p:pic>
      <p:sp>
        <p:nvSpPr>
          <p:cNvPr id="3" name="Shape 0"/>
          <p:cNvSpPr/>
          <p:nvPr/>
        </p:nvSpPr>
        <p:spPr>
          <a:xfrm>
            <a:off x="5486400" y="0"/>
            <a:ext cx="3657600" cy="5143500"/>
          </a:xfrm>
          <a:prstGeom prst="rect">
            <a:avLst/>
          </a:prstGeom>
          <a:solidFill>
            <a:srgbClr val="0B5960">
              <a:alpha val="22000"/>
            </a:srgbClr>
          </a:solidFill>
          <a:ln/>
        </p:spPr>
        <p:txBody>
          <a:bodyPr/>
          <a:lstStyle/>
          <a:p>
            <a:endParaRPr lang="en-US"/>
          </a:p>
        </p:txBody>
      </p:sp>
      <p:sp>
        <p:nvSpPr>
          <p:cNvPr id="4" name="Shape 1"/>
          <p:cNvSpPr/>
          <p:nvPr/>
        </p:nvSpPr>
        <p:spPr>
          <a:xfrm>
            <a:off x="640080" y="1417320"/>
            <a:ext cx="640080" cy="100584"/>
          </a:xfrm>
          <a:prstGeom prst="rect">
            <a:avLst/>
          </a:prstGeom>
          <a:solidFill>
            <a:srgbClr val="0E7C86"/>
          </a:solidFill>
          <a:ln/>
        </p:spPr>
        <p:txBody>
          <a:bodyPr/>
          <a:lstStyle/>
          <a:p>
            <a:endParaRPr lang="en-US"/>
          </a:p>
        </p:txBody>
      </p:sp>
      <p:sp>
        <p:nvSpPr>
          <p:cNvPr id="5" name="Text 2"/>
          <p:cNvSpPr/>
          <p:nvPr/>
        </p:nvSpPr>
        <p:spPr>
          <a:xfrm>
            <a:off x="640080" y="1627632"/>
            <a:ext cx="4572000" cy="274320"/>
          </a:xfrm>
          <a:prstGeom prst="rect">
            <a:avLst/>
          </a:prstGeom>
          <a:noFill/>
          <a:ln/>
        </p:spPr>
        <p:txBody>
          <a:bodyPr wrap="square" lIns="0" tIns="0" rIns="0" bIns="0" rtlCol="0" anchor="ctr"/>
          <a:lstStyle/>
          <a:p>
            <a:pPr marL="0" indent="0">
              <a:buNone/>
            </a:pPr>
            <a:r>
              <a:rPr lang="en-US" sz="1200" b="1" kern="0" spc="100" dirty="0">
                <a:solidFill>
                  <a:srgbClr val="0E7C86"/>
                </a:solidFill>
                <a:latin typeface="Trebuchet MS" pitchFamily="34" charset="0"/>
                <a:ea typeface="Trebuchet MS" pitchFamily="34" charset="-122"/>
                <a:cs typeface="Trebuchet MS" pitchFamily="34" charset="-120"/>
              </a:rPr>
              <a:t>COMPLIANCE REVIEW  ·  JULY 2026</a:t>
            </a:r>
            <a:endParaRPr lang="en-US" sz="1200" dirty="0"/>
          </a:p>
        </p:txBody>
      </p:sp>
      <p:sp>
        <p:nvSpPr>
          <p:cNvPr id="6" name="Text 3"/>
          <p:cNvSpPr/>
          <p:nvPr/>
        </p:nvSpPr>
        <p:spPr>
          <a:xfrm>
            <a:off x="621792" y="1938528"/>
            <a:ext cx="4754880" cy="1371600"/>
          </a:xfrm>
          <a:prstGeom prst="rect">
            <a:avLst/>
          </a:prstGeom>
          <a:noFill/>
          <a:ln/>
        </p:spPr>
        <p:txBody>
          <a:bodyPr wrap="square" lIns="0" tIns="0" rIns="0" bIns="0" rtlCol="0" anchor="ctr"/>
          <a:lstStyle/>
          <a:p>
            <a:pPr marL="0" indent="0">
              <a:lnSpc>
                <a:spcPct val="98000"/>
              </a:lnSpc>
              <a:buNone/>
            </a:pPr>
            <a:r>
              <a:rPr lang="en-US" sz="3800" b="1" dirty="0">
                <a:solidFill>
                  <a:srgbClr val="26303A"/>
                </a:solidFill>
                <a:latin typeface="Trebuchet MS" pitchFamily="34" charset="0"/>
                <a:ea typeface="Trebuchet MS" pitchFamily="34" charset="-122"/>
                <a:cs typeface="Trebuchet MS" pitchFamily="34" charset="-120"/>
              </a:rPr>
              <a:t>Supply Chain Issue</a:t>
            </a:r>
            <a:endParaRPr lang="en-US" sz="3800" dirty="0"/>
          </a:p>
          <a:p>
            <a:pPr marL="0" indent="0">
              <a:lnSpc>
                <a:spcPct val="98000"/>
              </a:lnSpc>
              <a:buNone/>
            </a:pPr>
            <a:r>
              <a:rPr lang="en-US" sz="3800" b="1" dirty="0">
                <a:solidFill>
                  <a:srgbClr val="26303A"/>
                </a:solidFill>
                <a:latin typeface="Trebuchet MS" pitchFamily="34" charset="0"/>
                <a:ea typeface="Trebuchet MS" pitchFamily="34" charset="-122"/>
                <a:cs typeface="Trebuchet MS" pitchFamily="34" charset="-120"/>
              </a:rPr>
              <a:t>Compliance Report</a:t>
            </a:r>
            <a:endParaRPr lang="en-US" sz="3800" dirty="0"/>
          </a:p>
        </p:txBody>
      </p:sp>
      <p:sp>
        <p:nvSpPr>
          <p:cNvPr id="7" name="Text 4"/>
          <p:cNvSpPr/>
          <p:nvPr/>
        </p:nvSpPr>
        <p:spPr>
          <a:xfrm>
            <a:off x="640080" y="3429000"/>
            <a:ext cx="4480560" cy="822960"/>
          </a:xfrm>
          <a:prstGeom prst="rect">
            <a:avLst/>
          </a:prstGeom>
          <a:noFill/>
          <a:ln/>
        </p:spPr>
        <p:txBody>
          <a:bodyPr wrap="square" lIns="0" tIns="0" rIns="0" bIns="0" rtlCol="0" anchor="ctr"/>
          <a:lstStyle/>
          <a:p>
            <a:pPr marL="0" indent="0">
              <a:lnSpc>
                <a:spcPct val="105000"/>
              </a:lnSpc>
              <a:buNone/>
            </a:pPr>
            <a:r>
              <a:rPr lang="en-US" sz="1350" dirty="0">
                <a:solidFill>
                  <a:srgbClr val="6B7A82"/>
                </a:solidFill>
                <a:latin typeface="Calibri" pitchFamily="34" charset="0"/>
                <a:ea typeface="Calibri" pitchFamily="34" charset="-122"/>
                <a:cs typeface="Calibri" pitchFamily="34" charset="-120"/>
              </a:rPr>
              <a:t>Component delivery, supplier performance, risk exposure, and mitigation actions across 50 records and five suppliers.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46304" cy="384048"/>
          </a:xfrm>
          <a:prstGeom prst="rect">
            <a:avLst/>
          </a:prstGeom>
          <a:solidFill>
            <a:srgbClr val="0E7C86"/>
          </a:solidFill>
          <a:ln/>
        </p:spPr>
        <p:txBody>
          <a:bodyPr/>
          <a:lstStyle/>
          <a:p>
            <a:endParaRPr lang="en-US"/>
          </a:p>
        </p:txBody>
      </p:sp>
      <p:sp>
        <p:nvSpPr>
          <p:cNvPr id="3" name="Text 1"/>
          <p:cNvSpPr/>
          <p:nvPr/>
        </p:nvSpPr>
        <p:spPr>
          <a:xfrm>
            <a:off x="749808" y="420624"/>
            <a:ext cx="786384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Trebuchet MS" pitchFamily="34" charset="0"/>
                <a:ea typeface="Trebuchet MS" pitchFamily="34" charset="-122"/>
                <a:cs typeface="Trebuchet MS" pitchFamily="34" charset="-120"/>
              </a:rPr>
              <a:t>01 · FINDINGS</a:t>
            </a:r>
            <a:endParaRPr lang="en-US" sz="1150" dirty="0"/>
          </a:p>
        </p:txBody>
      </p:sp>
      <p:sp>
        <p:nvSpPr>
          <p:cNvPr id="4" name="Text 2"/>
          <p:cNvSpPr/>
          <p:nvPr/>
        </p:nvSpPr>
        <p:spPr>
          <a:xfrm>
            <a:off x="731520" y="621792"/>
            <a:ext cx="8046720" cy="502920"/>
          </a:xfrm>
          <a:prstGeom prst="rect">
            <a:avLst/>
          </a:prstGeom>
          <a:noFill/>
          <a:ln/>
        </p:spPr>
        <p:txBody>
          <a:bodyPr wrap="square" lIns="0" tIns="0" rIns="0" bIns="0" rtlCol="0" anchor="ctr"/>
          <a:lstStyle/>
          <a:p>
            <a:pPr marL="0" indent="0">
              <a:buNone/>
            </a:pPr>
            <a:r>
              <a:rPr lang="en-US" sz="2800" b="1" dirty="0">
                <a:solidFill>
                  <a:srgbClr val="26303A"/>
                </a:solidFill>
                <a:latin typeface="Trebuchet MS" pitchFamily="34" charset="0"/>
                <a:ea typeface="Trebuchet MS" pitchFamily="34" charset="-122"/>
                <a:cs typeface="Trebuchet MS" pitchFamily="34" charset="-120"/>
              </a:rPr>
              <a:t>Summary of Key Issues</a:t>
            </a:r>
            <a:endParaRPr lang="en-US" sz="2800" dirty="0"/>
          </a:p>
        </p:txBody>
      </p:sp>
      <p:sp>
        <p:nvSpPr>
          <p:cNvPr id="5" name="Shape 3"/>
          <p:cNvSpPr/>
          <p:nvPr/>
        </p:nvSpPr>
        <p:spPr>
          <a:xfrm>
            <a:off x="502920" y="1371600"/>
            <a:ext cx="4069080" cy="1572768"/>
          </a:xfrm>
          <a:prstGeom prst="rect">
            <a:avLst/>
          </a:prstGeom>
          <a:solidFill>
            <a:srgbClr val="F3F7F8"/>
          </a:solidFill>
          <a:ln w="12700">
            <a:solidFill>
              <a:srgbClr val="BFE6E6"/>
            </a:solidFill>
            <a:prstDash val="solid"/>
          </a:ln>
        </p:spPr>
        <p:txBody>
          <a:bodyPr/>
          <a:lstStyle/>
          <a:p>
            <a:endParaRPr lang="en-US"/>
          </a:p>
        </p:txBody>
      </p:sp>
      <p:sp>
        <p:nvSpPr>
          <p:cNvPr id="6" name="Shape 4"/>
          <p:cNvSpPr/>
          <p:nvPr/>
        </p:nvSpPr>
        <p:spPr>
          <a:xfrm>
            <a:off x="502920" y="1371600"/>
            <a:ext cx="82296" cy="1572768"/>
          </a:xfrm>
          <a:prstGeom prst="rect">
            <a:avLst/>
          </a:prstGeom>
          <a:solidFill>
            <a:srgbClr val="0E7C86"/>
          </a:solidFill>
          <a:ln/>
        </p:spPr>
        <p:txBody>
          <a:bodyPr/>
          <a:lstStyle/>
          <a:p>
            <a:endParaRPr lang="en-US"/>
          </a:p>
        </p:txBody>
      </p:sp>
      <p:sp>
        <p:nvSpPr>
          <p:cNvPr id="7" name="Shape 5"/>
          <p:cNvSpPr/>
          <p:nvPr/>
        </p:nvSpPr>
        <p:spPr>
          <a:xfrm>
            <a:off x="795528" y="1645920"/>
            <a:ext cx="566928" cy="566928"/>
          </a:xfrm>
          <a:prstGeom prst="ellipse">
            <a:avLst/>
          </a:prstGeom>
          <a:solidFill>
            <a:srgbClr val="0E7C8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23544" y="1773936"/>
            <a:ext cx="310896" cy="310896"/>
          </a:xfrm>
          <a:prstGeom prst="rect">
            <a:avLst/>
          </a:prstGeom>
        </p:spPr>
      </p:pic>
      <p:sp>
        <p:nvSpPr>
          <p:cNvPr id="9" name="Text 6"/>
          <p:cNvSpPr/>
          <p:nvPr/>
        </p:nvSpPr>
        <p:spPr>
          <a:xfrm>
            <a:off x="1527048" y="1627632"/>
            <a:ext cx="2834640" cy="457200"/>
          </a:xfrm>
          <a:prstGeom prst="rect">
            <a:avLst/>
          </a:prstGeom>
          <a:noFill/>
          <a:ln/>
        </p:spPr>
        <p:txBody>
          <a:bodyPr wrap="square" lIns="0" tIns="0" rIns="0" bIns="0" rtlCol="0" anchor="ctr"/>
          <a:lstStyle/>
          <a:p>
            <a:pPr marL="0" indent="0">
              <a:buNone/>
            </a:pPr>
            <a:r>
              <a:rPr lang="en-US" sz="1500" b="1" dirty="0">
                <a:solidFill>
                  <a:srgbClr val="26303A"/>
                </a:solidFill>
                <a:latin typeface="Trebuchet MS" pitchFamily="34" charset="0"/>
                <a:ea typeface="Trebuchet MS" pitchFamily="34" charset="-122"/>
                <a:cs typeface="Trebuchet MS" pitchFamily="34" charset="-120"/>
              </a:rPr>
              <a:t>Delayed critical components</a:t>
            </a:r>
            <a:endParaRPr lang="en-US" sz="1500" dirty="0"/>
          </a:p>
        </p:txBody>
      </p:sp>
      <p:sp>
        <p:nvSpPr>
          <p:cNvPr id="10" name="Text 7"/>
          <p:cNvSpPr/>
          <p:nvPr/>
        </p:nvSpPr>
        <p:spPr>
          <a:xfrm>
            <a:off x="1527048" y="2121408"/>
            <a:ext cx="2834640" cy="685800"/>
          </a:xfrm>
          <a:prstGeom prst="rect">
            <a:avLst/>
          </a:prstGeom>
          <a:noFill/>
          <a:ln/>
        </p:spPr>
        <p:txBody>
          <a:bodyPr wrap="square" lIns="0" tIns="0" rIns="0" bIns="0" rtlCol="0" anchor="ctr"/>
          <a:lstStyle/>
          <a:p>
            <a:pPr marL="0" indent="0">
              <a:lnSpc>
                <a:spcPct val="100000"/>
              </a:lnSpc>
              <a:buNone/>
            </a:pPr>
            <a:r>
              <a:rPr lang="en-US" sz="1150" dirty="0">
                <a:solidFill>
                  <a:srgbClr val="6B7A82"/>
                </a:solidFill>
                <a:latin typeface="Calibri" pitchFamily="34" charset="0"/>
                <a:ea typeface="Calibri" pitchFamily="34" charset="-122"/>
                <a:cs typeface="Calibri" pitchFamily="34" charset="-120"/>
              </a:rPr>
              <a:t>BIND567, CARB123, and COAT890 are the flagged delayed items driving operational review.</a:t>
            </a:r>
            <a:endParaRPr lang="en-US" sz="1150" dirty="0"/>
          </a:p>
        </p:txBody>
      </p:sp>
      <p:sp>
        <p:nvSpPr>
          <p:cNvPr id="11" name="Shape 8"/>
          <p:cNvSpPr/>
          <p:nvPr/>
        </p:nvSpPr>
        <p:spPr>
          <a:xfrm>
            <a:off x="4892040" y="1371600"/>
            <a:ext cx="4069080" cy="1572768"/>
          </a:xfrm>
          <a:prstGeom prst="rect">
            <a:avLst/>
          </a:prstGeom>
          <a:solidFill>
            <a:srgbClr val="F3F7F8"/>
          </a:solidFill>
          <a:ln w="12700">
            <a:solidFill>
              <a:srgbClr val="BFE6E6"/>
            </a:solidFill>
            <a:prstDash val="solid"/>
          </a:ln>
        </p:spPr>
        <p:txBody>
          <a:bodyPr/>
          <a:lstStyle/>
          <a:p>
            <a:endParaRPr lang="en-US"/>
          </a:p>
        </p:txBody>
      </p:sp>
      <p:sp>
        <p:nvSpPr>
          <p:cNvPr id="12" name="Shape 9"/>
          <p:cNvSpPr/>
          <p:nvPr/>
        </p:nvSpPr>
        <p:spPr>
          <a:xfrm>
            <a:off x="4892040" y="1371600"/>
            <a:ext cx="82296" cy="1572768"/>
          </a:xfrm>
          <a:prstGeom prst="rect">
            <a:avLst/>
          </a:prstGeom>
          <a:solidFill>
            <a:srgbClr val="0E7C86"/>
          </a:solidFill>
          <a:ln/>
        </p:spPr>
        <p:txBody>
          <a:bodyPr/>
          <a:lstStyle/>
          <a:p>
            <a:endParaRPr lang="en-US"/>
          </a:p>
        </p:txBody>
      </p:sp>
      <p:sp>
        <p:nvSpPr>
          <p:cNvPr id="13" name="Shape 10"/>
          <p:cNvSpPr/>
          <p:nvPr/>
        </p:nvSpPr>
        <p:spPr>
          <a:xfrm>
            <a:off x="5184648" y="1645920"/>
            <a:ext cx="566928" cy="566928"/>
          </a:xfrm>
          <a:prstGeom prst="ellipse">
            <a:avLst/>
          </a:prstGeom>
          <a:solidFill>
            <a:srgbClr val="0E7C86"/>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5312664" y="1773936"/>
            <a:ext cx="310896" cy="310896"/>
          </a:xfrm>
          <a:prstGeom prst="rect">
            <a:avLst/>
          </a:prstGeom>
        </p:spPr>
      </p:pic>
      <p:sp>
        <p:nvSpPr>
          <p:cNvPr id="15" name="Text 11"/>
          <p:cNvSpPr/>
          <p:nvPr/>
        </p:nvSpPr>
        <p:spPr>
          <a:xfrm>
            <a:off x="5916168" y="1627632"/>
            <a:ext cx="2834640" cy="457200"/>
          </a:xfrm>
          <a:prstGeom prst="rect">
            <a:avLst/>
          </a:prstGeom>
          <a:noFill/>
          <a:ln/>
        </p:spPr>
        <p:txBody>
          <a:bodyPr wrap="square" lIns="0" tIns="0" rIns="0" bIns="0" rtlCol="0" anchor="ctr"/>
          <a:lstStyle/>
          <a:p>
            <a:pPr marL="0" indent="0">
              <a:buNone/>
            </a:pPr>
            <a:r>
              <a:rPr lang="en-US" sz="1500" b="1" dirty="0">
                <a:solidFill>
                  <a:srgbClr val="26303A"/>
                </a:solidFill>
                <a:latin typeface="Trebuchet MS" pitchFamily="34" charset="0"/>
                <a:ea typeface="Trebuchet MS" pitchFamily="34" charset="-122"/>
                <a:cs typeface="Trebuchet MS" pitchFamily="34" charset="-120"/>
              </a:rPr>
              <a:t>COAT890 delivery weakness</a:t>
            </a:r>
            <a:endParaRPr lang="en-US" sz="1500" dirty="0"/>
          </a:p>
        </p:txBody>
      </p:sp>
      <p:sp>
        <p:nvSpPr>
          <p:cNvPr id="16" name="Text 12"/>
          <p:cNvSpPr/>
          <p:nvPr/>
        </p:nvSpPr>
        <p:spPr>
          <a:xfrm>
            <a:off x="5916168" y="2121408"/>
            <a:ext cx="2834640" cy="685800"/>
          </a:xfrm>
          <a:prstGeom prst="rect">
            <a:avLst/>
          </a:prstGeom>
          <a:noFill/>
          <a:ln/>
        </p:spPr>
        <p:txBody>
          <a:bodyPr wrap="square" lIns="0" tIns="0" rIns="0" bIns="0" rtlCol="0" anchor="ctr"/>
          <a:lstStyle/>
          <a:p>
            <a:pPr marL="0" indent="0">
              <a:lnSpc>
                <a:spcPct val="100000"/>
              </a:lnSpc>
              <a:buNone/>
            </a:pPr>
            <a:r>
              <a:rPr lang="en-US" sz="1150" dirty="0">
                <a:solidFill>
                  <a:srgbClr val="6B7A82"/>
                </a:solidFill>
                <a:latin typeface="Calibri" pitchFamily="34" charset="0"/>
                <a:ea typeface="Calibri" pitchFamily="34" charset="-122"/>
                <a:cs typeface="Calibri" pitchFamily="34" charset="-120"/>
              </a:rPr>
              <a:t>Weakest delayed-component on-time delivery at 84.2%, with a low record of 81%.</a:t>
            </a:r>
            <a:endParaRPr lang="en-US" sz="1150" dirty="0"/>
          </a:p>
        </p:txBody>
      </p:sp>
      <p:sp>
        <p:nvSpPr>
          <p:cNvPr id="17" name="Shape 13"/>
          <p:cNvSpPr/>
          <p:nvPr/>
        </p:nvSpPr>
        <p:spPr>
          <a:xfrm>
            <a:off x="502920" y="3218688"/>
            <a:ext cx="4069080" cy="1572768"/>
          </a:xfrm>
          <a:prstGeom prst="rect">
            <a:avLst/>
          </a:prstGeom>
          <a:solidFill>
            <a:srgbClr val="F3F7F8"/>
          </a:solidFill>
          <a:ln w="12700">
            <a:solidFill>
              <a:srgbClr val="BFE6E6"/>
            </a:solidFill>
            <a:prstDash val="solid"/>
          </a:ln>
        </p:spPr>
        <p:txBody>
          <a:bodyPr/>
          <a:lstStyle/>
          <a:p>
            <a:endParaRPr lang="en-US"/>
          </a:p>
        </p:txBody>
      </p:sp>
      <p:sp>
        <p:nvSpPr>
          <p:cNvPr id="18" name="Shape 14"/>
          <p:cNvSpPr/>
          <p:nvPr/>
        </p:nvSpPr>
        <p:spPr>
          <a:xfrm>
            <a:off x="502920" y="3218688"/>
            <a:ext cx="82296" cy="1572768"/>
          </a:xfrm>
          <a:prstGeom prst="rect">
            <a:avLst/>
          </a:prstGeom>
          <a:solidFill>
            <a:srgbClr val="0E7C86"/>
          </a:solidFill>
          <a:ln/>
        </p:spPr>
        <p:txBody>
          <a:bodyPr/>
          <a:lstStyle/>
          <a:p>
            <a:endParaRPr lang="en-US"/>
          </a:p>
        </p:txBody>
      </p:sp>
      <p:sp>
        <p:nvSpPr>
          <p:cNvPr id="19" name="Shape 15"/>
          <p:cNvSpPr/>
          <p:nvPr/>
        </p:nvSpPr>
        <p:spPr>
          <a:xfrm>
            <a:off x="795528" y="3493008"/>
            <a:ext cx="566928" cy="566928"/>
          </a:xfrm>
          <a:prstGeom prst="ellipse">
            <a:avLst/>
          </a:prstGeom>
          <a:solidFill>
            <a:srgbClr val="0E7C86"/>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923544" y="3621024"/>
            <a:ext cx="310896" cy="310896"/>
          </a:xfrm>
          <a:prstGeom prst="rect">
            <a:avLst/>
          </a:prstGeom>
        </p:spPr>
      </p:pic>
      <p:sp>
        <p:nvSpPr>
          <p:cNvPr id="21" name="Text 16"/>
          <p:cNvSpPr/>
          <p:nvPr/>
        </p:nvSpPr>
        <p:spPr>
          <a:xfrm>
            <a:off x="1527048" y="3474720"/>
            <a:ext cx="2834640" cy="457200"/>
          </a:xfrm>
          <a:prstGeom prst="rect">
            <a:avLst/>
          </a:prstGeom>
          <a:noFill/>
          <a:ln/>
        </p:spPr>
        <p:txBody>
          <a:bodyPr wrap="square" lIns="0" tIns="0" rIns="0" bIns="0" rtlCol="0" anchor="ctr"/>
          <a:lstStyle/>
          <a:p>
            <a:pPr marL="0" indent="0">
              <a:buNone/>
            </a:pPr>
            <a:r>
              <a:rPr lang="en-US" sz="1500" b="1" dirty="0">
                <a:solidFill>
                  <a:srgbClr val="26303A"/>
                </a:solidFill>
                <a:latin typeface="Trebuchet MS" pitchFamily="34" charset="0"/>
                <a:ea typeface="Trebuchet MS" pitchFamily="34" charset="-122"/>
                <a:cs typeface="Trebuchet MS" pitchFamily="34" charset="-120"/>
              </a:rPr>
              <a:t>Concentrated risk exposure</a:t>
            </a:r>
            <a:endParaRPr lang="en-US" sz="1500" dirty="0"/>
          </a:p>
        </p:txBody>
      </p:sp>
      <p:sp>
        <p:nvSpPr>
          <p:cNvPr id="22" name="Text 17"/>
          <p:cNvSpPr/>
          <p:nvPr/>
        </p:nvSpPr>
        <p:spPr>
          <a:xfrm>
            <a:off x="1527048" y="3968496"/>
            <a:ext cx="2834640" cy="685800"/>
          </a:xfrm>
          <a:prstGeom prst="rect">
            <a:avLst/>
          </a:prstGeom>
          <a:noFill/>
          <a:ln/>
        </p:spPr>
        <p:txBody>
          <a:bodyPr wrap="square" lIns="0" tIns="0" rIns="0" bIns="0" rtlCol="0" anchor="ctr"/>
          <a:lstStyle/>
          <a:p>
            <a:pPr marL="0" indent="0">
              <a:lnSpc>
                <a:spcPct val="100000"/>
              </a:lnSpc>
              <a:buNone/>
            </a:pPr>
            <a:r>
              <a:rPr lang="en-US" sz="1150" dirty="0">
                <a:solidFill>
                  <a:srgbClr val="6B7A82"/>
                </a:solidFill>
                <a:latin typeface="Calibri" pitchFamily="34" charset="0"/>
                <a:ea typeface="Calibri" pitchFamily="34" charset="-122"/>
                <a:cs typeface="Calibri" pitchFamily="34" charset="-120"/>
              </a:rPr>
              <a:t>12 high-risk and 24 medium-risk records; RawMatPlus holds the most high-risk items.</a:t>
            </a:r>
            <a:endParaRPr lang="en-US" sz="1150" dirty="0"/>
          </a:p>
        </p:txBody>
      </p:sp>
      <p:sp>
        <p:nvSpPr>
          <p:cNvPr id="23" name="Shape 18"/>
          <p:cNvSpPr/>
          <p:nvPr/>
        </p:nvSpPr>
        <p:spPr>
          <a:xfrm>
            <a:off x="4892040" y="3218688"/>
            <a:ext cx="4069080" cy="1572768"/>
          </a:xfrm>
          <a:prstGeom prst="rect">
            <a:avLst/>
          </a:prstGeom>
          <a:solidFill>
            <a:srgbClr val="F3F7F8"/>
          </a:solidFill>
          <a:ln w="12700">
            <a:solidFill>
              <a:srgbClr val="BFE6E6"/>
            </a:solidFill>
            <a:prstDash val="solid"/>
          </a:ln>
        </p:spPr>
        <p:txBody>
          <a:bodyPr/>
          <a:lstStyle/>
          <a:p>
            <a:endParaRPr lang="en-US"/>
          </a:p>
        </p:txBody>
      </p:sp>
      <p:sp>
        <p:nvSpPr>
          <p:cNvPr id="24" name="Shape 19"/>
          <p:cNvSpPr/>
          <p:nvPr/>
        </p:nvSpPr>
        <p:spPr>
          <a:xfrm>
            <a:off x="4892040" y="3218688"/>
            <a:ext cx="82296" cy="1572768"/>
          </a:xfrm>
          <a:prstGeom prst="rect">
            <a:avLst/>
          </a:prstGeom>
          <a:solidFill>
            <a:srgbClr val="0E7C86"/>
          </a:solidFill>
          <a:ln/>
        </p:spPr>
        <p:txBody>
          <a:bodyPr/>
          <a:lstStyle/>
          <a:p>
            <a:endParaRPr lang="en-US"/>
          </a:p>
        </p:txBody>
      </p:sp>
      <p:sp>
        <p:nvSpPr>
          <p:cNvPr id="25" name="Shape 20"/>
          <p:cNvSpPr/>
          <p:nvPr/>
        </p:nvSpPr>
        <p:spPr>
          <a:xfrm>
            <a:off x="5184648" y="3493008"/>
            <a:ext cx="566928" cy="566928"/>
          </a:xfrm>
          <a:prstGeom prst="ellipse">
            <a:avLst/>
          </a:prstGeom>
          <a:solidFill>
            <a:srgbClr val="0E7C86"/>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5312664" y="3621024"/>
            <a:ext cx="310896" cy="310896"/>
          </a:xfrm>
          <a:prstGeom prst="rect">
            <a:avLst/>
          </a:prstGeom>
        </p:spPr>
      </p:pic>
      <p:sp>
        <p:nvSpPr>
          <p:cNvPr id="27" name="Text 21"/>
          <p:cNvSpPr/>
          <p:nvPr/>
        </p:nvSpPr>
        <p:spPr>
          <a:xfrm>
            <a:off x="5916168" y="3474720"/>
            <a:ext cx="2834640" cy="457200"/>
          </a:xfrm>
          <a:prstGeom prst="rect">
            <a:avLst/>
          </a:prstGeom>
          <a:noFill/>
          <a:ln/>
        </p:spPr>
        <p:txBody>
          <a:bodyPr wrap="square" lIns="0" tIns="0" rIns="0" bIns="0" rtlCol="0" anchor="ctr"/>
          <a:lstStyle/>
          <a:p>
            <a:pPr marL="0" indent="0">
              <a:buNone/>
            </a:pPr>
            <a:r>
              <a:rPr lang="en-US" sz="1500" b="1" dirty="0">
                <a:solidFill>
                  <a:srgbClr val="26303A"/>
                </a:solidFill>
                <a:latin typeface="Trebuchet MS" pitchFamily="34" charset="0"/>
                <a:ea typeface="Trebuchet MS" pitchFamily="34" charset="-122"/>
                <a:cs typeface="Trebuchet MS" pitchFamily="34" charset="-120"/>
              </a:rPr>
              <a:t>Supplier &amp; compliance oversight</a:t>
            </a:r>
            <a:endParaRPr lang="en-US" sz="1500" dirty="0"/>
          </a:p>
        </p:txBody>
      </p:sp>
      <p:sp>
        <p:nvSpPr>
          <p:cNvPr id="28" name="Text 22"/>
          <p:cNvSpPr/>
          <p:nvPr/>
        </p:nvSpPr>
        <p:spPr>
          <a:xfrm>
            <a:off x="5916168" y="3968496"/>
            <a:ext cx="2834640" cy="685800"/>
          </a:xfrm>
          <a:prstGeom prst="rect">
            <a:avLst/>
          </a:prstGeom>
          <a:noFill/>
          <a:ln/>
        </p:spPr>
        <p:txBody>
          <a:bodyPr wrap="square" lIns="0" tIns="0" rIns="0" bIns="0" rtlCol="0" anchor="ctr"/>
          <a:lstStyle/>
          <a:p>
            <a:pPr marL="0" indent="0">
              <a:lnSpc>
                <a:spcPct val="100000"/>
              </a:lnSpc>
              <a:buNone/>
            </a:pPr>
            <a:r>
              <a:rPr lang="en-US" sz="1150" dirty="0">
                <a:solidFill>
                  <a:srgbClr val="6B7A82"/>
                </a:solidFill>
                <a:latin typeface="Calibri" pitchFamily="34" charset="0"/>
                <a:ea typeface="Calibri" pitchFamily="34" charset="-122"/>
                <a:cs typeface="Calibri" pitchFamily="34" charset="-120"/>
              </a:rPr>
              <a:t>PrimeLogistics ranks weakest overall, raising audit and FDA qualification implications.</a:t>
            </a:r>
            <a:endParaRPr lang="en-US" sz="1150" dirty="0"/>
          </a:p>
        </p:txBody>
      </p:sp>
      <p:sp>
        <p:nvSpPr>
          <p:cNvPr id="29" name="Text 23"/>
          <p:cNvSpPr/>
          <p:nvPr/>
        </p:nvSpPr>
        <p:spPr>
          <a:xfrm>
            <a:off x="502920" y="4828032"/>
            <a:ext cx="5486400" cy="256032"/>
          </a:xfrm>
          <a:prstGeom prst="rect">
            <a:avLst/>
          </a:prstGeom>
          <a:noFill/>
          <a:ln/>
        </p:spPr>
        <p:txBody>
          <a:bodyPr wrap="square" lIns="0" tIns="0" rIns="0" bIns="0" rtlCol="0" anchor="ctr"/>
          <a:lstStyle/>
          <a:p>
            <a:pPr marL="0" indent="0">
              <a:buNone/>
            </a:pPr>
            <a:r>
              <a:rPr lang="en-US" sz="900" dirty="0">
                <a:solidFill>
                  <a:srgbClr val="6B7A82"/>
                </a:solidFill>
                <a:latin typeface="Calibri" pitchFamily="34" charset="0"/>
                <a:ea typeface="Calibri" pitchFamily="34" charset="-122"/>
                <a:cs typeface="Calibri" pitchFamily="34" charset="-120"/>
              </a:rPr>
              <a:t>Supply Chain Issue Compliance Report</a:t>
            </a:r>
            <a:endParaRPr lang="en-US" sz="900" dirty="0"/>
          </a:p>
        </p:txBody>
      </p:sp>
      <p:sp>
        <p:nvSpPr>
          <p:cNvPr id="30" name="Text 24"/>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6B7A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46304" cy="384048"/>
          </a:xfrm>
          <a:prstGeom prst="rect">
            <a:avLst/>
          </a:prstGeom>
          <a:solidFill>
            <a:srgbClr val="0E7C86"/>
          </a:solidFill>
          <a:ln/>
        </p:spPr>
        <p:txBody>
          <a:bodyPr/>
          <a:lstStyle/>
          <a:p>
            <a:endParaRPr lang="en-US"/>
          </a:p>
        </p:txBody>
      </p:sp>
      <p:sp>
        <p:nvSpPr>
          <p:cNvPr id="3" name="Text 1"/>
          <p:cNvSpPr/>
          <p:nvPr/>
        </p:nvSpPr>
        <p:spPr>
          <a:xfrm>
            <a:off x="749808" y="420624"/>
            <a:ext cx="786384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Trebuchet MS" pitchFamily="34" charset="0"/>
                <a:ea typeface="Trebuchet MS" pitchFamily="34" charset="-122"/>
                <a:cs typeface="Trebuchet MS" pitchFamily="34" charset="-120"/>
              </a:rPr>
              <a:t>02 · METRICS</a:t>
            </a:r>
            <a:endParaRPr lang="en-US" sz="1150" dirty="0"/>
          </a:p>
        </p:txBody>
      </p:sp>
      <p:sp>
        <p:nvSpPr>
          <p:cNvPr id="4" name="Text 2"/>
          <p:cNvSpPr/>
          <p:nvPr/>
        </p:nvSpPr>
        <p:spPr>
          <a:xfrm>
            <a:off x="731520" y="621792"/>
            <a:ext cx="8046720" cy="502920"/>
          </a:xfrm>
          <a:prstGeom prst="rect">
            <a:avLst/>
          </a:prstGeom>
          <a:noFill/>
          <a:ln/>
        </p:spPr>
        <p:txBody>
          <a:bodyPr wrap="square" lIns="0" tIns="0" rIns="0" bIns="0" rtlCol="0" anchor="ctr"/>
          <a:lstStyle/>
          <a:p>
            <a:pPr marL="0" indent="0">
              <a:buNone/>
            </a:pPr>
            <a:r>
              <a:rPr lang="en-US" sz="2800" b="1" dirty="0">
                <a:solidFill>
                  <a:srgbClr val="26303A"/>
                </a:solidFill>
                <a:latin typeface="Trebuchet MS" pitchFamily="34" charset="0"/>
                <a:ea typeface="Trebuchet MS" pitchFamily="34" charset="-122"/>
                <a:cs typeface="Trebuchet MS" pitchFamily="34" charset="-120"/>
              </a:rPr>
              <a:t>Data Insights</a:t>
            </a:r>
            <a:endParaRPr lang="en-US" sz="2800" dirty="0"/>
          </a:p>
        </p:txBody>
      </p:sp>
      <p:sp>
        <p:nvSpPr>
          <p:cNvPr id="5" name="Shape 3"/>
          <p:cNvSpPr/>
          <p:nvPr/>
        </p:nvSpPr>
        <p:spPr>
          <a:xfrm>
            <a:off x="502920" y="1298448"/>
            <a:ext cx="1975104" cy="841248"/>
          </a:xfrm>
          <a:prstGeom prst="rect">
            <a:avLst/>
          </a:prstGeom>
          <a:solidFill>
            <a:srgbClr val="0E7C86"/>
          </a:solidFill>
          <a:ln/>
        </p:spPr>
        <p:txBody>
          <a:bodyPr/>
          <a:lstStyle/>
          <a:p>
            <a:endParaRPr lang="en-US"/>
          </a:p>
        </p:txBody>
      </p:sp>
      <p:sp>
        <p:nvSpPr>
          <p:cNvPr id="6" name="Text 4"/>
          <p:cNvSpPr/>
          <p:nvPr/>
        </p:nvSpPr>
        <p:spPr>
          <a:xfrm>
            <a:off x="548640" y="1408176"/>
            <a:ext cx="1883664" cy="41148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89.8%</a:t>
            </a:r>
            <a:endParaRPr lang="en-US" sz="2400" dirty="0"/>
          </a:p>
        </p:txBody>
      </p:sp>
      <p:sp>
        <p:nvSpPr>
          <p:cNvPr id="7" name="Text 5"/>
          <p:cNvSpPr/>
          <p:nvPr/>
        </p:nvSpPr>
        <p:spPr>
          <a:xfrm>
            <a:off x="548640" y="1819656"/>
            <a:ext cx="1883664" cy="256032"/>
          </a:xfrm>
          <a:prstGeom prst="rect">
            <a:avLst/>
          </a:prstGeom>
          <a:noFill/>
          <a:ln/>
        </p:spPr>
        <p:txBody>
          <a:bodyPr wrap="square" lIns="0" tIns="0" rIns="0" bIns="0" rtlCol="0" anchor="ctr"/>
          <a:lstStyle/>
          <a:p>
            <a:pPr marL="0" indent="0" algn="ctr">
              <a:buNone/>
            </a:pPr>
            <a:r>
              <a:rPr lang="en-US" sz="1000" dirty="0">
                <a:solidFill>
                  <a:srgbClr val="E5F4F4"/>
                </a:solidFill>
                <a:latin typeface="Calibri" pitchFamily="34" charset="0"/>
                <a:ea typeface="Calibri" pitchFamily="34" charset="-122"/>
                <a:cs typeface="Calibri" pitchFamily="34" charset="-120"/>
              </a:rPr>
              <a:t>Avg on-time delivery</a:t>
            </a:r>
            <a:endParaRPr lang="en-US" sz="1000" dirty="0"/>
          </a:p>
        </p:txBody>
      </p:sp>
      <p:sp>
        <p:nvSpPr>
          <p:cNvPr id="8" name="Shape 6"/>
          <p:cNvSpPr/>
          <p:nvPr/>
        </p:nvSpPr>
        <p:spPr>
          <a:xfrm>
            <a:off x="2651760" y="1298448"/>
            <a:ext cx="1975104" cy="841248"/>
          </a:xfrm>
          <a:prstGeom prst="rect">
            <a:avLst/>
          </a:prstGeom>
          <a:solidFill>
            <a:srgbClr val="0E7C86"/>
          </a:solidFill>
          <a:ln/>
        </p:spPr>
        <p:txBody>
          <a:bodyPr/>
          <a:lstStyle/>
          <a:p>
            <a:endParaRPr lang="en-US"/>
          </a:p>
        </p:txBody>
      </p:sp>
      <p:sp>
        <p:nvSpPr>
          <p:cNvPr id="9" name="Text 7"/>
          <p:cNvSpPr/>
          <p:nvPr/>
        </p:nvSpPr>
        <p:spPr>
          <a:xfrm>
            <a:off x="2697480" y="1408176"/>
            <a:ext cx="1883664" cy="41148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92.4%</a:t>
            </a:r>
            <a:endParaRPr lang="en-US" sz="2400" dirty="0"/>
          </a:p>
        </p:txBody>
      </p:sp>
      <p:sp>
        <p:nvSpPr>
          <p:cNvPr id="10" name="Text 8"/>
          <p:cNvSpPr/>
          <p:nvPr/>
        </p:nvSpPr>
        <p:spPr>
          <a:xfrm>
            <a:off x="2697480" y="1819656"/>
            <a:ext cx="1883664" cy="256032"/>
          </a:xfrm>
          <a:prstGeom prst="rect">
            <a:avLst/>
          </a:prstGeom>
          <a:noFill/>
          <a:ln/>
        </p:spPr>
        <p:txBody>
          <a:bodyPr wrap="square" lIns="0" tIns="0" rIns="0" bIns="0" rtlCol="0" anchor="ctr"/>
          <a:lstStyle/>
          <a:p>
            <a:pPr marL="0" indent="0" algn="ctr">
              <a:buNone/>
            </a:pPr>
            <a:r>
              <a:rPr lang="en-US" sz="1000" dirty="0">
                <a:solidFill>
                  <a:srgbClr val="E5F4F4"/>
                </a:solidFill>
                <a:latin typeface="Calibri" pitchFamily="34" charset="0"/>
                <a:ea typeface="Calibri" pitchFamily="34" charset="-122"/>
                <a:cs typeface="Calibri" pitchFamily="34" charset="-120"/>
              </a:rPr>
              <a:t>Supplier reliability</a:t>
            </a:r>
            <a:endParaRPr lang="en-US" sz="1000" dirty="0"/>
          </a:p>
        </p:txBody>
      </p:sp>
      <p:sp>
        <p:nvSpPr>
          <p:cNvPr id="11" name="Shape 9"/>
          <p:cNvSpPr/>
          <p:nvPr/>
        </p:nvSpPr>
        <p:spPr>
          <a:xfrm>
            <a:off x="4800600" y="1298448"/>
            <a:ext cx="1975104" cy="841248"/>
          </a:xfrm>
          <a:prstGeom prst="rect">
            <a:avLst/>
          </a:prstGeom>
          <a:solidFill>
            <a:srgbClr val="0E7C86"/>
          </a:solidFill>
          <a:ln/>
        </p:spPr>
        <p:txBody>
          <a:bodyPr/>
          <a:lstStyle/>
          <a:p>
            <a:endParaRPr lang="en-US"/>
          </a:p>
        </p:txBody>
      </p:sp>
      <p:sp>
        <p:nvSpPr>
          <p:cNvPr id="12" name="Text 10"/>
          <p:cNvSpPr/>
          <p:nvPr/>
        </p:nvSpPr>
        <p:spPr>
          <a:xfrm>
            <a:off x="4846320" y="1408176"/>
            <a:ext cx="1883664" cy="41148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2.55%</a:t>
            </a:r>
            <a:endParaRPr lang="en-US" sz="2400" dirty="0"/>
          </a:p>
        </p:txBody>
      </p:sp>
      <p:sp>
        <p:nvSpPr>
          <p:cNvPr id="13" name="Text 11"/>
          <p:cNvSpPr/>
          <p:nvPr/>
        </p:nvSpPr>
        <p:spPr>
          <a:xfrm>
            <a:off x="4846320" y="1819656"/>
            <a:ext cx="1883664" cy="256032"/>
          </a:xfrm>
          <a:prstGeom prst="rect">
            <a:avLst/>
          </a:prstGeom>
          <a:noFill/>
          <a:ln/>
        </p:spPr>
        <p:txBody>
          <a:bodyPr wrap="square" lIns="0" tIns="0" rIns="0" bIns="0" rtlCol="0" anchor="ctr"/>
          <a:lstStyle/>
          <a:p>
            <a:pPr marL="0" indent="0" algn="ctr">
              <a:buNone/>
            </a:pPr>
            <a:r>
              <a:rPr lang="en-US" sz="1000" dirty="0">
                <a:solidFill>
                  <a:srgbClr val="E5F4F4"/>
                </a:solidFill>
                <a:latin typeface="Calibri" pitchFamily="34" charset="0"/>
                <a:ea typeface="Calibri" pitchFamily="34" charset="-122"/>
                <a:cs typeface="Calibri" pitchFamily="34" charset="-120"/>
              </a:rPr>
              <a:t>Avg defect rate</a:t>
            </a:r>
            <a:endParaRPr lang="en-US" sz="1000" dirty="0"/>
          </a:p>
        </p:txBody>
      </p:sp>
      <p:sp>
        <p:nvSpPr>
          <p:cNvPr id="14" name="Shape 12"/>
          <p:cNvSpPr/>
          <p:nvPr/>
        </p:nvSpPr>
        <p:spPr>
          <a:xfrm>
            <a:off x="6949440" y="1298448"/>
            <a:ext cx="1975104" cy="841248"/>
          </a:xfrm>
          <a:prstGeom prst="rect">
            <a:avLst/>
          </a:prstGeom>
          <a:solidFill>
            <a:srgbClr val="0E7C86"/>
          </a:solidFill>
          <a:ln/>
        </p:spPr>
        <p:txBody>
          <a:bodyPr/>
          <a:lstStyle/>
          <a:p>
            <a:endParaRPr lang="en-US"/>
          </a:p>
        </p:txBody>
      </p:sp>
      <p:sp>
        <p:nvSpPr>
          <p:cNvPr id="15" name="Text 13"/>
          <p:cNvSpPr/>
          <p:nvPr/>
        </p:nvSpPr>
        <p:spPr>
          <a:xfrm>
            <a:off x="6995160" y="1408176"/>
            <a:ext cx="1883664" cy="41148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93.8%</a:t>
            </a:r>
            <a:endParaRPr lang="en-US" sz="2400" dirty="0"/>
          </a:p>
        </p:txBody>
      </p:sp>
      <p:sp>
        <p:nvSpPr>
          <p:cNvPr id="16" name="Text 14"/>
          <p:cNvSpPr/>
          <p:nvPr/>
        </p:nvSpPr>
        <p:spPr>
          <a:xfrm>
            <a:off x="6995160" y="1819656"/>
            <a:ext cx="1883664" cy="256032"/>
          </a:xfrm>
          <a:prstGeom prst="rect">
            <a:avLst/>
          </a:prstGeom>
          <a:noFill/>
          <a:ln/>
        </p:spPr>
        <p:txBody>
          <a:bodyPr wrap="square" lIns="0" tIns="0" rIns="0" bIns="0" rtlCol="0" anchor="ctr"/>
          <a:lstStyle/>
          <a:p>
            <a:pPr marL="0" indent="0" algn="ctr">
              <a:buNone/>
            </a:pPr>
            <a:r>
              <a:rPr lang="en-US" sz="1000" dirty="0">
                <a:solidFill>
                  <a:srgbClr val="E5F4F4"/>
                </a:solidFill>
                <a:latin typeface="Calibri" pitchFamily="34" charset="0"/>
                <a:ea typeface="Calibri" pitchFamily="34" charset="-122"/>
                <a:cs typeface="Calibri" pitchFamily="34" charset="-120"/>
              </a:rPr>
              <a:t>Quality pass rate</a:t>
            </a:r>
            <a:endParaRPr lang="en-US" sz="1000" dirty="0"/>
          </a:p>
        </p:txBody>
      </p:sp>
      <p:sp>
        <p:nvSpPr>
          <p:cNvPr id="17" name="Text 15"/>
          <p:cNvSpPr/>
          <p:nvPr/>
        </p:nvSpPr>
        <p:spPr>
          <a:xfrm>
            <a:off x="502920" y="2395728"/>
            <a:ext cx="3931920" cy="274320"/>
          </a:xfrm>
          <a:prstGeom prst="rect">
            <a:avLst/>
          </a:prstGeom>
          <a:noFill/>
          <a:ln/>
        </p:spPr>
        <p:txBody>
          <a:bodyPr wrap="square" lIns="0" tIns="0" rIns="0" bIns="0" rtlCol="0" anchor="ctr"/>
          <a:lstStyle/>
          <a:p>
            <a:pPr marL="0" indent="0">
              <a:buNone/>
            </a:pPr>
            <a:r>
              <a:rPr lang="en-US" sz="1300" b="1" dirty="0">
                <a:solidFill>
                  <a:srgbClr val="26303A"/>
                </a:solidFill>
                <a:latin typeface="Trebuchet MS" pitchFamily="34" charset="0"/>
                <a:ea typeface="Trebuchet MS" pitchFamily="34" charset="-122"/>
                <a:cs typeface="Trebuchet MS" pitchFamily="34" charset="-120"/>
              </a:rPr>
              <a:t>Risk level distribution (50 records)</a:t>
            </a:r>
            <a:endParaRPr lang="en-US" sz="1300" dirty="0"/>
          </a:p>
        </p:txBody>
      </p:sp>
      <p:graphicFrame>
        <p:nvGraphicFramePr>
          <p:cNvPr id="18" name="Chart 0"/>
          <p:cNvGraphicFramePr/>
          <p:nvPr/>
        </p:nvGraphicFramePr>
        <p:xfrm>
          <a:off x="457200" y="2697480"/>
          <a:ext cx="397764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6"/>
          <p:cNvSpPr/>
          <p:nvPr/>
        </p:nvSpPr>
        <p:spPr>
          <a:xfrm>
            <a:off x="4663440" y="2395728"/>
            <a:ext cx="4023360" cy="274320"/>
          </a:xfrm>
          <a:prstGeom prst="rect">
            <a:avLst/>
          </a:prstGeom>
          <a:noFill/>
          <a:ln/>
        </p:spPr>
        <p:txBody>
          <a:bodyPr wrap="square" lIns="0" tIns="0" rIns="0" bIns="0" rtlCol="0" anchor="ctr"/>
          <a:lstStyle/>
          <a:p>
            <a:pPr marL="0" indent="0">
              <a:buNone/>
            </a:pPr>
            <a:r>
              <a:rPr lang="en-US" sz="1300" b="1" dirty="0">
                <a:solidFill>
                  <a:srgbClr val="26303A"/>
                </a:solidFill>
                <a:latin typeface="Trebuchet MS" pitchFamily="34" charset="0"/>
                <a:ea typeface="Trebuchet MS" pitchFamily="34" charset="-122"/>
                <a:cs typeface="Trebuchet MS" pitchFamily="34" charset="-120"/>
              </a:rPr>
              <a:t>On-time delivery — flagged components (%)</a:t>
            </a:r>
            <a:endParaRPr lang="en-US" sz="1300" dirty="0"/>
          </a:p>
        </p:txBody>
      </p:sp>
      <p:graphicFrame>
        <p:nvGraphicFramePr>
          <p:cNvPr id="20" name="Chart 1"/>
          <p:cNvGraphicFramePr/>
          <p:nvPr/>
        </p:nvGraphicFramePr>
        <p:xfrm>
          <a:off x="4617720" y="2697480"/>
          <a:ext cx="4023360" cy="196596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 17"/>
          <p:cNvSpPr/>
          <p:nvPr/>
        </p:nvSpPr>
        <p:spPr>
          <a:xfrm>
            <a:off x="502920" y="4828032"/>
            <a:ext cx="5486400" cy="256032"/>
          </a:xfrm>
          <a:prstGeom prst="rect">
            <a:avLst/>
          </a:prstGeom>
          <a:noFill/>
          <a:ln/>
        </p:spPr>
        <p:txBody>
          <a:bodyPr wrap="square" lIns="0" tIns="0" rIns="0" bIns="0" rtlCol="0" anchor="ctr"/>
          <a:lstStyle/>
          <a:p>
            <a:pPr marL="0" indent="0">
              <a:buNone/>
            </a:pPr>
            <a:r>
              <a:rPr lang="en-US" sz="900" dirty="0">
                <a:solidFill>
                  <a:srgbClr val="6B7A82"/>
                </a:solidFill>
                <a:latin typeface="Calibri" pitchFamily="34" charset="0"/>
                <a:ea typeface="Calibri" pitchFamily="34" charset="-122"/>
                <a:cs typeface="Calibri" pitchFamily="34" charset="-120"/>
              </a:rPr>
              <a:t>Supply Chain Issue Compliance Report</a:t>
            </a:r>
            <a:endParaRPr lang="en-US" sz="900" dirty="0"/>
          </a:p>
        </p:txBody>
      </p:sp>
      <p:sp>
        <p:nvSpPr>
          <p:cNvPr id="22" name="Text 18"/>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6B7A8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46304" cy="384048"/>
          </a:xfrm>
          <a:prstGeom prst="rect">
            <a:avLst/>
          </a:prstGeom>
          <a:solidFill>
            <a:srgbClr val="0E7C86"/>
          </a:solidFill>
          <a:ln/>
        </p:spPr>
        <p:txBody>
          <a:bodyPr/>
          <a:lstStyle/>
          <a:p>
            <a:endParaRPr lang="en-US"/>
          </a:p>
        </p:txBody>
      </p:sp>
      <p:sp>
        <p:nvSpPr>
          <p:cNvPr id="3" name="Text 1"/>
          <p:cNvSpPr/>
          <p:nvPr/>
        </p:nvSpPr>
        <p:spPr>
          <a:xfrm>
            <a:off x="749808" y="420624"/>
            <a:ext cx="786384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Trebuchet MS" pitchFamily="34" charset="0"/>
                <a:ea typeface="Trebuchet MS" pitchFamily="34" charset="-122"/>
                <a:cs typeface="Trebuchet MS" pitchFamily="34" charset="-120"/>
              </a:rPr>
              <a:t>03 · MITIGATION</a:t>
            </a:r>
            <a:endParaRPr lang="en-US" sz="1150" dirty="0"/>
          </a:p>
        </p:txBody>
      </p:sp>
      <p:sp>
        <p:nvSpPr>
          <p:cNvPr id="4" name="Text 2"/>
          <p:cNvSpPr/>
          <p:nvPr/>
        </p:nvSpPr>
        <p:spPr>
          <a:xfrm>
            <a:off x="731520" y="621792"/>
            <a:ext cx="8046720" cy="502920"/>
          </a:xfrm>
          <a:prstGeom prst="rect">
            <a:avLst/>
          </a:prstGeom>
          <a:noFill/>
          <a:ln/>
        </p:spPr>
        <p:txBody>
          <a:bodyPr wrap="square" lIns="0" tIns="0" rIns="0" bIns="0" rtlCol="0" anchor="ctr"/>
          <a:lstStyle/>
          <a:p>
            <a:pPr marL="0" indent="0">
              <a:buNone/>
            </a:pPr>
            <a:r>
              <a:rPr lang="en-US" sz="2800" b="1" dirty="0">
                <a:solidFill>
                  <a:srgbClr val="26303A"/>
                </a:solidFill>
                <a:latin typeface="Trebuchet MS" pitchFamily="34" charset="0"/>
                <a:ea typeface="Trebuchet MS" pitchFamily="34" charset="-122"/>
                <a:cs typeface="Trebuchet MS" pitchFamily="34" charset="-120"/>
              </a:rPr>
              <a:t>Proposed Solutions</a:t>
            </a:r>
            <a:endParaRPr lang="en-US" sz="2800" dirty="0"/>
          </a:p>
        </p:txBody>
      </p:sp>
      <p:sp>
        <p:nvSpPr>
          <p:cNvPr id="5" name="Shape 3"/>
          <p:cNvSpPr/>
          <p:nvPr/>
        </p:nvSpPr>
        <p:spPr>
          <a:xfrm>
            <a:off x="502920" y="1298448"/>
            <a:ext cx="4069080" cy="1033272"/>
          </a:xfrm>
          <a:prstGeom prst="rect">
            <a:avLst/>
          </a:prstGeom>
          <a:solidFill>
            <a:srgbClr val="F3F7F8"/>
          </a:solidFill>
          <a:ln/>
        </p:spPr>
        <p:txBody>
          <a:bodyPr/>
          <a:lstStyle/>
          <a:p>
            <a:endParaRPr lang="en-US"/>
          </a:p>
        </p:txBody>
      </p:sp>
      <p:sp>
        <p:nvSpPr>
          <p:cNvPr id="6" name="Shape 4"/>
          <p:cNvSpPr/>
          <p:nvPr/>
        </p:nvSpPr>
        <p:spPr>
          <a:xfrm>
            <a:off x="722376" y="1572768"/>
            <a:ext cx="493776" cy="493776"/>
          </a:xfrm>
          <a:prstGeom prst="ellipse">
            <a:avLst/>
          </a:prstGeom>
          <a:solidFill>
            <a:srgbClr val="FFFFFF"/>
          </a:solidFill>
          <a:ln w="12700">
            <a:solidFill>
              <a:srgbClr val="5FB3B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32104" y="1682496"/>
            <a:ext cx="274320" cy="274320"/>
          </a:xfrm>
          <a:prstGeom prst="rect">
            <a:avLst/>
          </a:prstGeom>
        </p:spPr>
      </p:pic>
      <p:sp>
        <p:nvSpPr>
          <p:cNvPr id="8" name="Text 5"/>
          <p:cNvSpPr/>
          <p:nvPr/>
        </p:nvSpPr>
        <p:spPr>
          <a:xfrm>
            <a:off x="1371600" y="1444752"/>
            <a:ext cx="3017520" cy="365760"/>
          </a:xfrm>
          <a:prstGeom prst="rect">
            <a:avLst/>
          </a:prstGeom>
          <a:noFill/>
          <a:ln/>
        </p:spPr>
        <p:txBody>
          <a:bodyPr wrap="square" lIns="0" tIns="0" rIns="0" bIns="0" rtlCol="0" anchor="ctr"/>
          <a:lstStyle/>
          <a:p>
            <a:pPr marL="0" indent="0">
              <a:buNone/>
            </a:pPr>
            <a:r>
              <a:rPr lang="en-US" sz="1350" b="1" dirty="0">
                <a:solidFill>
                  <a:srgbClr val="26303A"/>
                </a:solidFill>
                <a:latin typeface="Trebuchet MS" pitchFamily="34" charset="0"/>
                <a:ea typeface="Trebuchet MS" pitchFamily="34" charset="-122"/>
                <a:cs typeface="Trebuchet MS" pitchFamily="34" charset="-120"/>
              </a:rPr>
              <a:t>Prioritize COAT890 remediation</a:t>
            </a:r>
            <a:endParaRPr lang="en-US" sz="1350" dirty="0"/>
          </a:p>
        </p:txBody>
      </p:sp>
      <p:sp>
        <p:nvSpPr>
          <p:cNvPr id="9" name="Text 6"/>
          <p:cNvSpPr/>
          <p:nvPr/>
        </p:nvSpPr>
        <p:spPr>
          <a:xfrm>
            <a:off x="1371600" y="1783080"/>
            <a:ext cx="3017520" cy="457200"/>
          </a:xfrm>
          <a:prstGeom prst="rect">
            <a:avLst/>
          </a:prstGeom>
          <a:noFill/>
          <a:ln/>
        </p:spPr>
        <p:txBody>
          <a:bodyPr wrap="square" lIns="0" tIns="0" rIns="0" bIns="0" rtlCol="0" anchor="ctr"/>
          <a:lstStyle/>
          <a:p>
            <a:pPr marL="0" indent="0">
              <a:lnSpc>
                <a:spcPct val="98000"/>
              </a:lnSpc>
              <a:buNone/>
            </a:pPr>
            <a:r>
              <a:rPr lang="en-US" sz="1050" dirty="0">
                <a:solidFill>
                  <a:srgbClr val="6B7A82"/>
                </a:solidFill>
                <a:latin typeface="Calibri" pitchFamily="34" charset="0"/>
                <a:ea typeface="Calibri" pitchFamily="34" charset="-122"/>
                <a:cs typeface="Calibri" pitchFamily="34" charset="-120"/>
              </a:rPr>
              <a:t>Review suppliers near 81% on-time delivery and set corrective-action milestones.</a:t>
            </a:r>
            <a:endParaRPr lang="en-US" sz="1050" dirty="0"/>
          </a:p>
        </p:txBody>
      </p:sp>
      <p:sp>
        <p:nvSpPr>
          <p:cNvPr id="10" name="Shape 7"/>
          <p:cNvSpPr/>
          <p:nvPr/>
        </p:nvSpPr>
        <p:spPr>
          <a:xfrm>
            <a:off x="4892040" y="1298448"/>
            <a:ext cx="4069080" cy="1033272"/>
          </a:xfrm>
          <a:prstGeom prst="rect">
            <a:avLst/>
          </a:prstGeom>
          <a:solidFill>
            <a:srgbClr val="F3F7F8"/>
          </a:solidFill>
          <a:ln/>
        </p:spPr>
        <p:txBody>
          <a:bodyPr/>
          <a:lstStyle/>
          <a:p>
            <a:endParaRPr lang="en-US"/>
          </a:p>
        </p:txBody>
      </p:sp>
      <p:sp>
        <p:nvSpPr>
          <p:cNvPr id="11" name="Shape 8"/>
          <p:cNvSpPr/>
          <p:nvPr/>
        </p:nvSpPr>
        <p:spPr>
          <a:xfrm>
            <a:off x="5111496" y="1572768"/>
            <a:ext cx="493776" cy="493776"/>
          </a:xfrm>
          <a:prstGeom prst="ellipse">
            <a:avLst/>
          </a:prstGeom>
          <a:solidFill>
            <a:srgbClr val="FFFFFF"/>
          </a:solidFill>
          <a:ln w="12700">
            <a:solidFill>
              <a:srgbClr val="5FB3B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5221224" y="1682496"/>
            <a:ext cx="274320" cy="274320"/>
          </a:xfrm>
          <a:prstGeom prst="rect">
            <a:avLst/>
          </a:prstGeom>
        </p:spPr>
      </p:pic>
      <p:sp>
        <p:nvSpPr>
          <p:cNvPr id="13" name="Text 9"/>
          <p:cNvSpPr/>
          <p:nvPr/>
        </p:nvSpPr>
        <p:spPr>
          <a:xfrm>
            <a:off x="5760720" y="1444752"/>
            <a:ext cx="3017520" cy="365760"/>
          </a:xfrm>
          <a:prstGeom prst="rect">
            <a:avLst/>
          </a:prstGeom>
          <a:noFill/>
          <a:ln/>
        </p:spPr>
        <p:txBody>
          <a:bodyPr wrap="square" lIns="0" tIns="0" rIns="0" bIns="0" rtlCol="0" anchor="ctr"/>
          <a:lstStyle/>
          <a:p>
            <a:pPr marL="0" indent="0">
              <a:buNone/>
            </a:pPr>
            <a:r>
              <a:rPr lang="en-US" sz="1350" b="1" dirty="0">
                <a:solidFill>
                  <a:srgbClr val="26303A"/>
                </a:solidFill>
                <a:latin typeface="Trebuchet MS" pitchFamily="34" charset="0"/>
                <a:ea typeface="Trebuchet MS" pitchFamily="34" charset="-122"/>
                <a:cs typeface="Trebuchet MS" pitchFamily="34" charset="-120"/>
              </a:rPr>
              <a:t>Strengthen RawMatPlus oversight</a:t>
            </a:r>
            <a:endParaRPr lang="en-US" sz="1350" dirty="0"/>
          </a:p>
        </p:txBody>
      </p:sp>
      <p:sp>
        <p:nvSpPr>
          <p:cNvPr id="14" name="Text 10"/>
          <p:cNvSpPr/>
          <p:nvPr/>
        </p:nvSpPr>
        <p:spPr>
          <a:xfrm>
            <a:off x="5760720" y="1783080"/>
            <a:ext cx="3017520" cy="457200"/>
          </a:xfrm>
          <a:prstGeom prst="rect">
            <a:avLst/>
          </a:prstGeom>
          <a:noFill/>
          <a:ln/>
        </p:spPr>
        <p:txBody>
          <a:bodyPr wrap="square" lIns="0" tIns="0" rIns="0" bIns="0" rtlCol="0" anchor="ctr"/>
          <a:lstStyle/>
          <a:p>
            <a:pPr marL="0" indent="0">
              <a:lnSpc>
                <a:spcPct val="98000"/>
              </a:lnSpc>
              <a:buNone/>
            </a:pPr>
            <a:r>
              <a:rPr lang="en-US" sz="1050" dirty="0">
                <a:solidFill>
                  <a:srgbClr val="6B7A82"/>
                </a:solidFill>
                <a:latin typeface="Calibri" pitchFamily="34" charset="0"/>
                <a:ea typeface="Calibri" pitchFamily="34" charset="-122"/>
                <a:cs typeface="Calibri" pitchFamily="34" charset="-120"/>
              </a:rPr>
              <a:t>Require performance reviews, contract assessment, and documented improvement plans.</a:t>
            </a:r>
            <a:endParaRPr lang="en-US" sz="1050" dirty="0"/>
          </a:p>
        </p:txBody>
      </p:sp>
      <p:sp>
        <p:nvSpPr>
          <p:cNvPr id="15" name="Shape 11"/>
          <p:cNvSpPr/>
          <p:nvPr/>
        </p:nvSpPr>
        <p:spPr>
          <a:xfrm>
            <a:off x="502920" y="2478024"/>
            <a:ext cx="4069080" cy="1033272"/>
          </a:xfrm>
          <a:prstGeom prst="rect">
            <a:avLst/>
          </a:prstGeom>
          <a:solidFill>
            <a:srgbClr val="F3F7F8"/>
          </a:solidFill>
          <a:ln/>
        </p:spPr>
        <p:txBody>
          <a:bodyPr/>
          <a:lstStyle/>
          <a:p>
            <a:endParaRPr lang="en-US"/>
          </a:p>
        </p:txBody>
      </p:sp>
      <p:sp>
        <p:nvSpPr>
          <p:cNvPr id="16" name="Shape 12"/>
          <p:cNvSpPr/>
          <p:nvPr/>
        </p:nvSpPr>
        <p:spPr>
          <a:xfrm>
            <a:off x="722376" y="2752344"/>
            <a:ext cx="493776" cy="493776"/>
          </a:xfrm>
          <a:prstGeom prst="ellipse">
            <a:avLst/>
          </a:prstGeom>
          <a:solidFill>
            <a:srgbClr val="FFFFFF"/>
          </a:solidFill>
          <a:ln w="12700">
            <a:solidFill>
              <a:srgbClr val="5FB3B8"/>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832104" y="2862072"/>
            <a:ext cx="274320" cy="274320"/>
          </a:xfrm>
          <a:prstGeom prst="rect">
            <a:avLst/>
          </a:prstGeom>
        </p:spPr>
      </p:pic>
      <p:sp>
        <p:nvSpPr>
          <p:cNvPr id="18" name="Text 13"/>
          <p:cNvSpPr/>
          <p:nvPr/>
        </p:nvSpPr>
        <p:spPr>
          <a:xfrm>
            <a:off x="1371600" y="2624328"/>
            <a:ext cx="3017520" cy="365760"/>
          </a:xfrm>
          <a:prstGeom prst="rect">
            <a:avLst/>
          </a:prstGeom>
          <a:noFill/>
          <a:ln/>
        </p:spPr>
        <p:txBody>
          <a:bodyPr wrap="square" lIns="0" tIns="0" rIns="0" bIns="0" rtlCol="0" anchor="ctr"/>
          <a:lstStyle/>
          <a:p>
            <a:pPr marL="0" indent="0">
              <a:buNone/>
            </a:pPr>
            <a:r>
              <a:rPr lang="en-US" sz="1350" b="1" dirty="0">
                <a:solidFill>
                  <a:srgbClr val="26303A"/>
                </a:solidFill>
                <a:latin typeface="Trebuchet MS" pitchFamily="34" charset="0"/>
                <a:ea typeface="Trebuchet MS" pitchFamily="34" charset="-122"/>
                <a:cs typeface="Trebuchet MS" pitchFamily="34" charset="-120"/>
              </a:rPr>
              <a:t>Use alternate sourcing</a:t>
            </a:r>
            <a:endParaRPr lang="en-US" sz="1350" dirty="0"/>
          </a:p>
        </p:txBody>
      </p:sp>
      <p:sp>
        <p:nvSpPr>
          <p:cNvPr id="19" name="Text 14"/>
          <p:cNvSpPr/>
          <p:nvPr/>
        </p:nvSpPr>
        <p:spPr>
          <a:xfrm>
            <a:off x="1371600" y="2962656"/>
            <a:ext cx="3017520" cy="457200"/>
          </a:xfrm>
          <a:prstGeom prst="rect">
            <a:avLst/>
          </a:prstGeom>
          <a:noFill/>
          <a:ln/>
        </p:spPr>
        <p:txBody>
          <a:bodyPr wrap="square" lIns="0" tIns="0" rIns="0" bIns="0" rtlCol="0" anchor="ctr"/>
          <a:lstStyle/>
          <a:p>
            <a:pPr marL="0" indent="0">
              <a:lnSpc>
                <a:spcPct val="98000"/>
              </a:lnSpc>
              <a:buNone/>
            </a:pPr>
            <a:r>
              <a:rPr lang="en-US" sz="1050" dirty="0">
                <a:solidFill>
                  <a:srgbClr val="6B7A82"/>
                </a:solidFill>
                <a:latin typeface="Calibri" pitchFamily="34" charset="0"/>
                <a:ea typeface="Calibri" pitchFamily="34" charset="-122"/>
                <a:cs typeface="Calibri" pitchFamily="34" charset="-120"/>
              </a:rPr>
              <a:t>Apply source-alternative strategies where delays or backorders signal supply fragility.</a:t>
            </a:r>
            <a:endParaRPr lang="en-US" sz="1050" dirty="0"/>
          </a:p>
        </p:txBody>
      </p:sp>
      <p:sp>
        <p:nvSpPr>
          <p:cNvPr id="20" name="Shape 15"/>
          <p:cNvSpPr/>
          <p:nvPr/>
        </p:nvSpPr>
        <p:spPr>
          <a:xfrm>
            <a:off x="4892040" y="2478024"/>
            <a:ext cx="4069080" cy="1033272"/>
          </a:xfrm>
          <a:prstGeom prst="rect">
            <a:avLst/>
          </a:prstGeom>
          <a:solidFill>
            <a:srgbClr val="F3F7F8"/>
          </a:solidFill>
          <a:ln/>
        </p:spPr>
        <p:txBody>
          <a:bodyPr/>
          <a:lstStyle/>
          <a:p>
            <a:endParaRPr lang="en-US"/>
          </a:p>
        </p:txBody>
      </p:sp>
      <p:sp>
        <p:nvSpPr>
          <p:cNvPr id="21" name="Shape 16"/>
          <p:cNvSpPr/>
          <p:nvPr/>
        </p:nvSpPr>
        <p:spPr>
          <a:xfrm>
            <a:off x="5111496" y="2752344"/>
            <a:ext cx="493776" cy="493776"/>
          </a:xfrm>
          <a:prstGeom prst="ellipse">
            <a:avLst/>
          </a:prstGeom>
          <a:solidFill>
            <a:srgbClr val="FFFFFF"/>
          </a:solidFill>
          <a:ln w="12700">
            <a:solidFill>
              <a:srgbClr val="5FB3B8"/>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5221224" y="2862072"/>
            <a:ext cx="274320" cy="274320"/>
          </a:xfrm>
          <a:prstGeom prst="rect">
            <a:avLst/>
          </a:prstGeom>
        </p:spPr>
      </p:pic>
      <p:sp>
        <p:nvSpPr>
          <p:cNvPr id="23" name="Text 17"/>
          <p:cNvSpPr/>
          <p:nvPr/>
        </p:nvSpPr>
        <p:spPr>
          <a:xfrm>
            <a:off x="5760720" y="2624328"/>
            <a:ext cx="3017520" cy="365760"/>
          </a:xfrm>
          <a:prstGeom prst="rect">
            <a:avLst/>
          </a:prstGeom>
          <a:noFill/>
          <a:ln/>
        </p:spPr>
        <p:txBody>
          <a:bodyPr wrap="square" lIns="0" tIns="0" rIns="0" bIns="0" rtlCol="0" anchor="ctr"/>
          <a:lstStyle/>
          <a:p>
            <a:pPr marL="0" indent="0">
              <a:buNone/>
            </a:pPr>
            <a:r>
              <a:rPr lang="en-US" sz="1350" b="1" dirty="0">
                <a:solidFill>
                  <a:srgbClr val="26303A"/>
                </a:solidFill>
                <a:latin typeface="Trebuchet MS" pitchFamily="34" charset="0"/>
                <a:ea typeface="Trebuchet MS" pitchFamily="34" charset="-122"/>
                <a:cs typeface="Trebuchet MS" pitchFamily="34" charset="-120"/>
              </a:rPr>
              <a:t>Calibrate safety stock &amp; reorder</a:t>
            </a:r>
            <a:endParaRPr lang="en-US" sz="1350" dirty="0"/>
          </a:p>
        </p:txBody>
      </p:sp>
      <p:sp>
        <p:nvSpPr>
          <p:cNvPr id="24" name="Text 18"/>
          <p:cNvSpPr/>
          <p:nvPr/>
        </p:nvSpPr>
        <p:spPr>
          <a:xfrm>
            <a:off x="5760720" y="2962656"/>
            <a:ext cx="3017520" cy="457200"/>
          </a:xfrm>
          <a:prstGeom prst="rect">
            <a:avLst/>
          </a:prstGeom>
          <a:noFill/>
          <a:ln/>
        </p:spPr>
        <p:txBody>
          <a:bodyPr wrap="square" lIns="0" tIns="0" rIns="0" bIns="0" rtlCol="0" anchor="ctr"/>
          <a:lstStyle/>
          <a:p>
            <a:pPr marL="0" indent="0">
              <a:lnSpc>
                <a:spcPct val="98000"/>
              </a:lnSpc>
              <a:buNone/>
            </a:pPr>
            <a:r>
              <a:rPr lang="en-US" sz="1050" dirty="0">
                <a:solidFill>
                  <a:srgbClr val="6B7A82"/>
                </a:solidFill>
                <a:latin typeface="Calibri" pitchFamily="34" charset="0"/>
                <a:ea typeface="Calibri" pitchFamily="34" charset="-122"/>
                <a:cs typeface="Calibri" pitchFamily="34" charset="-120"/>
              </a:rPr>
              <a:t>Reassess reorder points and buffers for high-usage, high-variance components.</a:t>
            </a:r>
            <a:endParaRPr lang="en-US" sz="1050" dirty="0"/>
          </a:p>
        </p:txBody>
      </p:sp>
      <p:sp>
        <p:nvSpPr>
          <p:cNvPr id="25" name="Shape 19"/>
          <p:cNvSpPr/>
          <p:nvPr/>
        </p:nvSpPr>
        <p:spPr>
          <a:xfrm>
            <a:off x="502920" y="3657600"/>
            <a:ext cx="4069080" cy="1033272"/>
          </a:xfrm>
          <a:prstGeom prst="rect">
            <a:avLst/>
          </a:prstGeom>
          <a:solidFill>
            <a:srgbClr val="F3F7F8"/>
          </a:solidFill>
          <a:ln/>
        </p:spPr>
        <p:txBody>
          <a:bodyPr/>
          <a:lstStyle/>
          <a:p>
            <a:endParaRPr lang="en-US"/>
          </a:p>
        </p:txBody>
      </p:sp>
      <p:sp>
        <p:nvSpPr>
          <p:cNvPr id="26" name="Shape 20"/>
          <p:cNvSpPr/>
          <p:nvPr/>
        </p:nvSpPr>
        <p:spPr>
          <a:xfrm>
            <a:off x="722376" y="3931920"/>
            <a:ext cx="493776" cy="493776"/>
          </a:xfrm>
          <a:prstGeom prst="ellipse">
            <a:avLst/>
          </a:prstGeom>
          <a:solidFill>
            <a:srgbClr val="FFFFFF"/>
          </a:solidFill>
          <a:ln w="12700">
            <a:solidFill>
              <a:srgbClr val="5FB3B8"/>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832104" y="4041648"/>
            <a:ext cx="274320" cy="274320"/>
          </a:xfrm>
          <a:prstGeom prst="rect">
            <a:avLst/>
          </a:prstGeom>
        </p:spPr>
      </p:pic>
      <p:sp>
        <p:nvSpPr>
          <p:cNvPr id="28" name="Text 21"/>
          <p:cNvSpPr/>
          <p:nvPr/>
        </p:nvSpPr>
        <p:spPr>
          <a:xfrm>
            <a:off x="1371600" y="3803904"/>
            <a:ext cx="3017520" cy="365760"/>
          </a:xfrm>
          <a:prstGeom prst="rect">
            <a:avLst/>
          </a:prstGeom>
          <a:noFill/>
          <a:ln/>
        </p:spPr>
        <p:txBody>
          <a:bodyPr wrap="square" lIns="0" tIns="0" rIns="0" bIns="0" rtlCol="0" anchor="ctr"/>
          <a:lstStyle/>
          <a:p>
            <a:pPr marL="0" indent="0">
              <a:buNone/>
            </a:pPr>
            <a:r>
              <a:rPr lang="en-US" sz="1350" b="1" dirty="0">
                <a:solidFill>
                  <a:srgbClr val="26303A"/>
                </a:solidFill>
                <a:latin typeface="Trebuchet MS" pitchFamily="34" charset="0"/>
                <a:ea typeface="Trebuchet MS" pitchFamily="34" charset="-122"/>
                <a:cs typeface="Trebuchet MS" pitchFamily="34" charset="-120"/>
              </a:rPr>
              <a:t>Target quality improvement</a:t>
            </a:r>
            <a:endParaRPr lang="en-US" sz="1350" dirty="0"/>
          </a:p>
        </p:txBody>
      </p:sp>
      <p:sp>
        <p:nvSpPr>
          <p:cNvPr id="29" name="Text 22"/>
          <p:cNvSpPr/>
          <p:nvPr/>
        </p:nvSpPr>
        <p:spPr>
          <a:xfrm>
            <a:off x="1371600" y="4142232"/>
            <a:ext cx="3017520" cy="457200"/>
          </a:xfrm>
          <a:prstGeom prst="rect">
            <a:avLst/>
          </a:prstGeom>
          <a:noFill/>
          <a:ln/>
        </p:spPr>
        <p:txBody>
          <a:bodyPr wrap="square" lIns="0" tIns="0" rIns="0" bIns="0" rtlCol="0" anchor="ctr"/>
          <a:lstStyle/>
          <a:p>
            <a:pPr marL="0" indent="0">
              <a:lnSpc>
                <a:spcPct val="98000"/>
              </a:lnSpc>
              <a:buNone/>
            </a:pPr>
            <a:r>
              <a:rPr lang="en-US" sz="1050" dirty="0">
                <a:solidFill>
                  <a:srgbClr val="6B7A82"/>
                </a:solidFill>
                <a:latin typeface="Calibri" pitchFamily="34" charset="0"/>
                <a:ea typeface="Calibri" pitchFamily="34" charset="-122"/>
                <a:cs typeface="Calibri" pitchFamily="34" charset="-120"/>
              </a:rPr>
              <a:t>Investigate elevated defect rates and align inspection data with corrective plans.</a:t>
            </a:r>
            <a:endParaRPr lang="en-US" sz="1050" dirty="0"/>
          </a:p>
        </p:txBody>
      </p:sp>
      <p:sp>
        <p:nvSpPr>
          <p:cNvPr id="30" name="Shape 23"/>
          <p:cNvSpPr/>
          <p:nvPr/>
        </p:nvSpPr>
        <p:spPr>
          <a:xfrm>
            <a:off x="4892040" y="3657600"/>
            <a:ext cx="4069080" cy="1033272"/>
          </a:xfrm>
          <a:prstGeom prst="rect">
            <a:avLst/>
          </a:prstGeom>
          <a:solidFill>
            <a:srgbClr val="F3F7F8"/>
          </a:solidFill>
          <a:ln/>
        </p:spPr>
        <p:txBody>
          <a:bodyPr/>
          <a:lstStyle/>
          <a:p>
            <a:endParaRPr lang="en-US"/>
          </a:p>
        </p:txBody>
      </p:sp>
      <p:sp>
        <p:nvSpPr>
          <p:cNvPr id="31" name="Shape 24"/>
          <p:cNvSpPr/>
          <p:nvPr/>
        </p:nvSpPr>
        <p:spPr>
          <a:xfrm>
            <a:off x="5111496" y="3931920"/>
            <a:ext cx="493776" cy="493776"/>
          </a:xfrm>
          <a:prstGeom prst="ellipse">
            <a:avLst/>
          </a:prstGeom>
          <a:solidFill>
            <a:srgbClr val="FFFFFF"/>
          </a:solidFill>
          <a:ln w="12700">
            <a:solidFill>
              <a:srgbClr val="5FB3B8"/>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5221224" y="4041648"/>
            <a:ext cx="274320" cy="274320"/>
          </a:xfrm>
          <a:prstGeom prst="rect">
            <a:avLst/>
          </a:prstGeom>
        </p:spPr>
      </p:pic>
      <p:sp>
        <p:nvSpPr>
          <p:cNvPr id="33" name="Text 25"/>
          <p:cNvSpPr/>
          <p:nvPr/>
        </p:nvSpPr>
        <p:spPr>
          <a:xfrm>
            <a:off x="5760720" y="3803904"/>
            <a:ext cx="3017520" cy="365760"/>
          </a:xfrm>
          <a:prstGeom prst="rect">
            <a:avLst/>
          </a:prstGeom>
          <a:noFill/>
          <a:ln/>
        </p:spPr>
        <p:txBody>
          <a:bodyPr wrap="square" lIns="0" tIns="0" rIns="0" bIns="0" rtlCol="0" anchor="ctr"/>
          <a:lstStyle/>
          <a:p>
            <a:pPr marL="0" indent="0">
              <a:buNone/>
            </a:pPr>
            <a:r>
              <a:rPr lang="en-US" sz="1350" b="1" dirty="0">
                <a:solidFill>
                  <a:srgbClr val="26303A"/>
                </a:solidFill>
                <a:latin typeface="Trebuchet MS" pitchFamily="34" charset="0"/>
                <a:ea typeface="Trebuchet MS" pitchFamily="34" charset="-122"/>
                <a:cs typeface="Trebuchet MS" pitchFamily="34" charset="-120"/>
              </a:rPr>
              <a:t>Track mitigation effectiveness</a:t>
            </a:r>
            <a:endParaRPr lang="en-US" sz="1350" dirty="0"/>
          </a:p>
        </p:txBody>
      </p:sp>
      <p:sp>
        <p:nvSpPr>
          <p:cNvPr id="34" name="Text 26"/>
          <p:cNvSpPr/>
          <p:nvPr/>
        </p:nvSpPr>
        <p:spPr>
          <a:xfrm>
            <a:off x="5760720" y="4142232"/>
            <a:ext cx="3017520" cy="457200"/>
          </a:xfrm>
          <a:prstGeom prst="rect">
            <a:avLst/>
          </a:prstGeom>
          <a:noFill/>
          <a:ln/>
        </p:spPr>
        <p:txBody>
          <a:bodyPr wrap="square" lIns="0" tIns="0" rIns="0" bIns="0" rtlCol="0" anchor="ctr"/>
          <a:lstStyle/>
          <a:p>
            <a:pPr marL="0" indent="0">
              <a:lnSpc>
                <a:spcPct val="98000"/>
              </a:lnSpc>
              <a:buNone/>
            </a:pPr>
            <a:r>
              <a:rPr lang="en-US" sz="1050" dirty="0">
                <a:solidFill>
                  <a:srgbClr val="6B7A82"/>
                </a:solidFill>
                <a:latin typeface="Calibri" pitchFamily="34" charset="0"/>
                <a:ea typeface="Calibri" pitchFamily="34" charset="-122"/>
                <a:cs typeface="Calibri" pitchFamily="34" charset="-120"/>
              </a:rPr>
              <a:t>Maintain a periodic scorecard across delivery, reliability, defect, and lead-time.</a:t>
            </a:r>
            <a:endParaRPr lang="en-US" sz="1050" dirty="0"/>
          </a:p>
        </p:txBody>
      </p:sp>
      <p:sp>
        <p:nvSpPr>
          <p:cNvPr id="35" name="Text 27"/>
          <p:cNvSpPr/>
          <p:nvPr/>
        </p:nvSpPr>
        <p:spPr>
          <a:xfrm>
            <a:off x="502920" y="4828032"/>
            <a:ext cx="5486400" cy="256032"/>
          </a:xfrm>
          <a:prstGeom prst="rect">
            <a:avLst/>
          </a:prstGeom>
          <a:noFill/>
          <a:ln/>
        </p:spPr>
        <p:txBody>
          <a:bodyPr wrap="square" lIns="0" tIns="0" rIns="0" bIns="0" rtlCol="0" anchor="ctr"/>
          <a:lstStyle/>
          <a:p>
            <a:pPr marL="0" indent="0">
              <a:buNone/>
            </a:pPr>
            <a:r>
              <a:rPr lang="en-US" sz="900" dirty="0">
                <a:solidFill>
                  <a:srgbClr val="6B7A82"/>
                </a:solidFill>
                <a:latin typeface="Calibri" pitchFamily="34" charset="0"/>
                <a:ea typeface="Calibri" pitchFamily="34" charset="-122"/>
                <a:cs typeface="Calibri" pitchFamily="34" charset="-120"/>
              </a:rPr>
              <a:t>Supply Chain Issue Compliance Report</a:t>
            </a:r>
            <a:endParaRPr lang="en-US" sz="900" dirty="0"/>
          </a:p>
        </p:txBody>
      </p:sp>
      <p:sp>
        <p:nvSpPr>
          <p:cNvPr id="36" name="Text 28"/>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6B7A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146304" cy="384048"/>
          </a:xfrm>
          <a:prstGeom prst="rect">
            <a:avLst/>
          </a:prstGeom>
          <a:solidFill>
            <a:srgbClr val="0E7C86"/>
          </a:solidFill>
          <a:ln/>
        </p:spPr>
        <p:txBody>
          <a:bodyPr/>
          <a:lstStyle/>
          <a:p>
            <a:endParaRPr lang="en-US"/>
          </a:p>
        </p:txBody>
      </p:sp>
      <p:sp>
        <p:nvSpPr>
          <p:cNvPr id="3" name="Text 1"/>
          <p:cNvSpPr/>
          <p:nvPr/>
        </p:nvSpPr>
        <p:spPr>
          <a:xfrm>
            <a:off x="749808" y="420624"/>
            <a:ext cx="786384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Trebuchet MS" pitchFamily="34" charset="0"/>
                <a:ea typeface="Trebuchet MS" pitchFamily="34" charset="-122"/>
                <a:cs typeface="Trebuchet MS" pitchFamily="34" charset="-120"/>
              </a:rPr>
              <a:t>04 · ROADMAP</a:t>
            </a:r>
            <a:endParaRPr lang="en-US" sz="1150" dirty="0"/>
          </a:p>
        </p:txBody>
      </p:sp>
      <p:sp>
        <p:nvSpPr>
          <p:cNvPr id="4" name="Text 2"/>
          <p:cNvSpPr/>
          <p:nvPr/>
        </p:nvSpPr>
        <p:spPr>
          <a:xfrm>
            <a:off x="731520" y="621792"/>
            <a:ext cx="8046720" cy="502920"/>
          </a:xfrm>
          <a:prstGeom prst="rect">
            <a:avLst/>
          </a:prstGeom>
          <a:noFill/>
          <a:ln/>
        </p:spPr>
        <p:txBody>
          <a:bodyPr wrap="square" lIns="0" tIns="0" rIns="0" bIns="0" rtlCol="0" anchor="ctr"/>
          <a:lstStyle/>
          <a:p>
            <a:pPr marL="0" indent="0">
              <a:buNone/>
            </a:pPr>
            <a:r>
              <a:rPr lang="en-US" sz="2800" b="1" dirty="0">
                <a:solidFill>
                  <a:srgbClr val="26303A"/>
                </a:solidFill>
                <a:latin typeface="Trebuchet MS" pitchFamily="34" charset="0"/>
                <a:ea typeface="Trebuchet MS" pitchFamily="34" charset="-122"/>
                <a:cs typeface="Trebuchet MS" pitchFamily="34" charset="-120"/>
              </a:rPr>
              <a:t>Implementation Plan</a:t>
            </a:r>
            <a:endParaRPr lang="en-US" sz="2800" dirty="0"/>
          </a:p>
        </p:txBody>
      </p:sp>
      <p:sp>
        <p:nvSpPr>
          <p:cNvPr id="5" name="Shape 3"/>
          <p:cNvSpPr/>
          <p:nvPr/>
        </p:nvSpPr>
        <p:spPr>
          <a:xfrm>
            <a:off x="1576197" y="2148840"/>
            <a:ext cx="6055614" cy="0"/>
          </a:xfrm>
          <a:prstGeom prst="line">
            <a:avLst/>
          </a:prstGeom>
          <a:noFill/>
          <a:ln w="25400">
            <a:solidFill>
              <a:srgbClr val="5FB3B8"/>
            </a:solidFill>
            <a:prstDash val="dash"/>
          </a:ln>
        </p:spPr>
        <p:txBody>
          <a:bodyPr/>
          <a:lstStyle/>
          <a:p>
            <a:endParaRPr lang="en-US"/>
          </a:p>
        </p:txBody>
      </p:sp>
      <p:sp>
        <p:nvSpPr>
          <p:cNvPr id="6" name="Shape 4"/>
          <p:cNvSpPr/>
          <p:nvPr/>
        </p:nvSpPr>
        <p:spPr>
          <a:xfrm>
            <a:off x="1210437" y="1783080"/>
            <a:ext cx="731520" cy="731520"/>
          </a:xfrm>
          <a:prstGeom prst="ellipse">
            <a:avLst/>
          </a:prstGeom>
          <a:solidFill>
            <a:srgbClr val="0E7C86"/>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384173" y="1956816"/>
            <a:ext cx="384048" cy="384048"/>
          </a:xfrm>
          <a:prstGeom prst="rect">
            <a:avLst/>
          </a:prstGeom>
        </p:spPr>
      </p:pic>
      <p:sp>
        <p:nvSpPr>
          <p:cNvPr id="8" name="Shape 5"/>
          <p:cNvSpPr/>
          <p:nvPr/>
        </p:nvSpPr>
        <p:spPr>
          <a:xfrm>
            <a:off x="681228" y="2743200"/>
            <a:ext cx="1789938" cy="1965960"/>
          </a:xfrm>
          <a:prstGeom prst="rect">
            <a:avLst/>
          </a:prstGeom>
          <a:solidFill>
            <a:srgbClr val="F3F7F8"/>
          </a:solidFill>
          <a:ln w="12700">
            <a:solidFill>
              <a:srgbClr val="BFE6E6"/>
            </a:solidFill>
            <a:prstDash val="solid"/>
          </a:ln>
        </p:spPr>
        <p:txBody>
          <a:bodyPr/>
          <a:lstStyle/>
          <a:p>
            <a:endParaRPr lang="en-US"/>
          </a:p>
        </p:txBody>
      </p:sp>
      <p:sp>
        <p:nvSpPr>
          <p:cNvPr id="9" name="Shape 6"/>
          <p:cNvSpPr/>
          <p:nvPr/>
        </p:nvSpPr>
        <p:spPr>
          <a:xfrm>
            <a:off x="681228" y="2743200"/>
            <a:ext cx="1789938" cy="54864"/>
          </a:xfrm>
          <a:prstGeom prst="rect">
            <a:avLst/>
          </a:prstGeom>
          <a:solidFill>
            <a:srgbClr val="0E7C86"/>
          </a:solidFill>
          <a:ln/>
        </p:spPr>
        <p:txBody>
          <a:bodyPr/>
          <a:lstStyle/>
          <a:p>
            <a:endParaRPr lang="en-US"/>
          </a:p>
        </p:txBody>
      </p:sp>
      <p:sp>
        <p:nvSpPr>
          <p:cNvPr id="10" name="Text 7"/>
          <p:cNvSpPr/>
          <p:nvPr/>
        </p:nvSpPr>
        <p:spPr>
          <a:xfrm>
            <a:off x="790956" y="2889504"/>
            <a:ext cx="1570482" cy="256032"/>
          </a:xfrm>
          <a:prstGeom prst="rect">
            <a:avLst/>
          </a:prstGeom>
          <a:noFill/>
          <a:ln/>
        </p:spPr>
        <p:txBody>
          <a:bodyPr wrap="square" lIns="0" tIns="0" rIns="0" bIns="0" rtlCol="0" anchor="ctr"/>
          <a:lstStyle/>
          <a:p>
            <a:pPr marL="0" indent="0">
              <a:buNone/>
            </a:pPr>
            <a:r>
              <a:rPr lang="en-US" sz="1300" b="1" dirty="0">
                <a:solidFill>
                  <a:srgbClr val="0E7C86"/>
                </a:solidFill>
                <a:latin typeface="Trebuchet MS" pitchFamily="34" charset="0"/>
                <a:ea typeface="Trebuchet MS" pitchFamily="34" charset="-122"/>
                <a:cs typeface="Trebuchet MS" pitchFamily="34" charset="-120"/>
              </a:rPr>
              <a:t>Phase 1</a:t>
            </a:r>
            <a:endParaRPr lang="en-US" sz="1300" dirty="0"/>
          </a:p>
        </p:txBody>
      </p:sp>
      <p:sp>
        <p:nvSpPr>
          <p:cNvPr id="11" name="Text 8"/>
          <p:cNvSpPr/>
          <p:nvPr/>
        </p:nvSpPr>
        <p:spPr>
          <a:xfrm>
            <a:off x="790956" y="3145536"/>
            <a:ext cx="1570482" cy="219456"/>
          </a:xfrm>
          <a:prstGeom prst="rect">
            <a:avLst/>
          </a:prstGeom>
          <a:noFill/>
          <a:ln/>
        </p:spPr>
        <p:txBody>
          <a:bodyPr wrap="square" lIns="0" tIns="0" rIns="0" bIns="0" rtlCol="0" anchor="ctr"/>
          <a:lstStyle/>
          <a:p>
            <a:pPr marL="0" indent="0">
              <a:buNone/>
            </a:pPr>
            <a:r>
              <a:rPr lang="en-US" sz="950" b="1" dirty="0">
                <a:solidFill>
                  <a:srgbClr val="6B7A82"/>
                </a:solidFill>
                <a:latin typeface="Calibri" pitchFamily="34" charset="0"/>
                <a:ea typeface="Calibri" pitchFamily="34" charset="-122"/>
                <a:cs typeface="Calibri" pitchFamily="34" charset="-120"/>
              </a:rPr>
              <a:t>0–30 days</a:t>
            </a:r>
            <a:endParaRPr lang="en-US" sz="950" dirty="0"/>
          </a:p>
        </p:txBody>
      </p:sp>
      <p:sp>
        <p:nvSpPr>
          <p:cNvPr id="12" name="Text 9"/>
          <p:cNvSpPr/>
          <p:nvPr/>
        </p:nvSpPr>
        <p:spPr>
          <a:xfrm>
            <a:off x="790956" y="3401568"/>
            <a:ext cx="1570482" cy="457200"/>
          </a:xfrm>
          <a:prstGeom prst="rect">
            <a:avLst/>
          </a:prstGeom>
          <a:noFill/>
          <a:ln/>
        </p:spPr>
        <p:txBody>
          <a:bodyPr wrap="square" lIns="0" tIns="0" rIns="0" bIns="0" rtlCol="0" anchor="ctr"/>
          <a:lstStyle/>
          <a:p>
            <a:pPr marL="0" indent="0">
              <a:buNone/>
            </a:pPr>
            <a:r>
              <a:rPr lang="en-US" sz="1250" b="1" dirty="0">
                <a:solidFill>
                  <a:srgbClr val="26303A"/>
                </a:solidFill>
                <a:latin typeface="Trebuchet MS" pitchFamily="34" charset="0"/>
                <a:ea typeface="Trebuchet MS" pitchFamily="34" charset="-122"/>
                <a:cs typeface="Trebuchet MS" pitchFamily="34" charset="-120"/>
              </a:rPr>
              <a:t>Immediate triage</a:t>
            </a:r>
            <a:endParaRPr lang="en-US" sz="1250" dirty="0"/>
          </a:p>
        </p:txBody>
      </p:sp>
      <p:sp>
        <p:nvSpPr>
          <p:cNvPr id="13" name="Text 10"/>
          <p:cNvSpPr/>
          <p:nvPr/>
        </p:nvSpPr>
        <p:spPr>
          <a:xfrm>
            <a:off x="790956" y="3822192"/>
            <a:ext cx="1570482" cy="822960"/>
          </a:xfrm>
          <a:prstGeom prst="rect">
            <a:avLst/>
          </a:prstGeom>
          <a:noFill/>
          <a:ln/>
        </p:spPr>
        <p:txBody>
          <a:bodyPr wrap="square" lIns="0" tIns="0" rIns="0" bIns="0" rtlCol="0" anchor="ctr"/>
          <a:lstStyle/>
          <a:p>
            <a:pPr marL="0" indent="0">
              <a:lnSpc>
                <a:spcPct val="100000"/>
              </a:lnSpc>
              <a:buNone/>
            </a:pPr>
            <a:r>
              <a:rPr lang="en-US" sz="950" dirty="0">
                <a:solidFill>
                  <a:srgbClr val="6B7A82"/>
                </a:solidFill>
                <a:latin typeface="Calibri" pitchFamily="34" charset="0"/>
                <a:ea typeface="Calibri" pitchFamily="34" charset="-122"/>
                <a:cs typeface="Calibri" pitchFamily="34" charset="-120"/>
              </a:rPr>
              <a:t>Launch COAT890 corrective action and open supplier performance reviews for flagged items.</a:t>
            </a:r>
            <a:endParaRPr lang="en-US" sz="950" dirty="0"/>
          </a:p>
        </p:txBody>
      </p:sp>
      <p:sp>
        <p:nvSpPr>
          <p:cNvPr id="14" name="Shape 11"/>
          <p:cNvSpPr/>
          <p:nvPr/>
        </p:nvSpPr>
        <p:spPr>
          <a:xfrm>
            <a:off x="3228975" y="1783080"/>
            <a:ext cx="731520" cy="731520"/>
          </a:xfrm>
          <a:prstGeom prst="ellipse">
            <a:avLst/>
          </a:prstGeom>
          <a:solidFill>
            <a:srgbClr val="0E7C86"/>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402711" y="1956816"/>
            <a:ext cx="384048" cy="384048"/>
          </a:xfrm>
          <a:prstGeom prst="rect">
            <a:avLst/>
          </a:prstGeom>
        </p:spPr>
      </p:pic>
      <p:sp>
        <p:nvSpPr>
          <p:cNvPr id="16" name="Shape 12"/>
          <p:cNvSpPr/>
          <p:nvPr/>
        </p:nvSpPr>
        <p:spPr>
          <a:xfrm>
            <a:off x="2699766" y="2743200"/>
            <a:ext cx="1789938" cy="1965960"/>
          </a:xfrm>
          <a:prstGeom prst="rect">
            <a:avLst/>
          </a:prstGeom>
          <a:solidFill>
            <a:srgbClr val="F3F7F8"/>
          </a:solidFill>
          <a:ln w="12700">
            <a:solidFill>
              <a:srgbClr val="BFE6E6"/>
            </a:solidFill>
            <a:prstDash val="solid"/>
          </a:ln>
        </p:spPr>
        <p:txBody>
          <a:bodyPr/>
          <a:lstStyle/>
          <a:p>
            <a:endParaRPr lang="en-US"/>
          </a:p>
        </p:txBody>
      </p:sp>
      <p:sp>
        <p:nvSpPr>
          <p:cNvPr id="17" name="Shape 13"/>
          <p:cNvSpPr/>
          <p:nvPr/>
        </p:nvSpPr>
        <p:spPr>
          <a:xfrm>
            <a:off x="2699766" y="2743200"/>
            <a:ext cx="1789938" cy="54864"/>
          </a:xfrm>
          <a:prstGeom prst="rect">
            <a:avLst/>
          </a:prstGeom>
          <a:solidFill>
            <a:srgbClr val="0E7C86"/>
          </a:solidFill>
          <a:ln/>
        </p:spPr>
        <p:txBody>
          <a:bodyPr/>
          <a:lstStyle/>
          <a:p>
            <a:endParaRPr lang="en-US"/>
          </a:p>
        </p:txBody>
      </p:sp>
      <p:sp>
        <p:nvSpPr>
          <p:cNvPr id="18" name="Text 14"/>
          <p:cNvSpPr/>
          <p:nvPr/>
        </p:nvSpPr>
        <p:spPr>
          <a:xfrm>
            <a:off x="2809494" y="2889504"/>
            <a:ext cx="1570482" cy="256032"/>
          </a:xfrm>
          <a:prstGeom prst="rect">
            <a:avLst/>
          </a:prstGeom>
          <a:noFill/>
          <a:ln/>
        </p:spPr>
        <p:txBody>
          <a:bodyPr wrap="square" lIns="0" tIns="0" rIns="0" bIns="0" rtlCol="0" anchor="ctr"/>
          <a:lstStyle/>
          <a:p>
            <a:pPr marL="0" indent="0">
              <a:buNone/>
            </a:pPr>
            <a:r>
              <a:rPr lang="en-US" sz="1300" b="1" dirty="0">
                <a:solidFill>
                  <a:srgbClr val="0E7C86"/>
                </a:solidFill>
                <a:latin typeface="Trebuchet MS" pitchFamily="34" charset="0"/>
                <a:ea typeface="Trebuchet MS" pitchFamily="34" charset="-122"/>
                <a:cs typeface="Trebuchet MS" pitchFamily="34" charset="-120"/>
              </a:rPr>
              <a:t>Phase 2</a:t>
            </a:r>
            <a:endParaRPr lang="en-US" sz="1300" dirty="0"/>
          </a:p>
        </p:txBody>
      </p:sp>
      <p:sp>
        <p:nvSpPr>
          <p:cNvPr id="19" name="Text 15"/>
          <p:cNvSpPr/>
          <p:nvPr/>
        </p:nvSpPr>
        <p:spPr>
          <a:xfrm>
            <a:off x="2809494" y="3145536"/>
            <a:ext cx="1570482" cy="219456"/>
          </a:xfrm>
          <a:prstGeom prst="rect">
            <a:avLst/>
          </a:prstGeom>
          <a:noFill/>
          <a:ln/>
        </p:spPr>
        <p:txBody>
          <a:bodyPr wrap="square" lIns="0" tIns="0" rIns="0" bIns="0" rtlCol="0" anchor="ctr"/>
          <a:lstStyle/>
          <a:p>
            <a:pPr marL="0" indent="0">
              <a:buNone/>
            </a:pPr>
            <a:r>
              <a:rPr lang="en-US" sz="950" b="1" dirty="0">
                <a:solidFill>
                  <a:srgbClr val="6B7A82"/>
                </a:solidFill>
                <a:latin typeface="Calibri" pitchFamily="34" charset="0"/>
                <a:ea typeface="Calibri" pitchFamily="34" charset="-122"/>
                <a:cs typeface="Calibri" pitchFamily="34" charset="-120"/>
              </a:rPr>
              <a:t>30–60 days</a:t>
            </a:r>
            <a:endParaRPr lang="en-US" sz="950" dirty="0"/>
          </a:p>
        </p:txBody>
      </p:sp>
      <p:sp>
        <p:nvSpPr>
          <p:cNvPr id="20" name="Text 16"/>
          <p:cNvSpPr/>
          <p:nvPr/>
        </p:nvSpPr>
        <p:spPr>
          <a:xfrm>
            <a:off x="2809494" y="3401568"/>
            <a:ext cx="1570482" cy="457200"/>
          </a:xfrm>
          <a:prstGeom prst="rect">
            <a:avLst/>
          </a:prstGeom>
          <a:noFill/>
          <a:ln/>
        </p:spPr>
        <p:txBody>
          <a:bodyPr wrap="square" lIns="0" tIns="0" rIns="0" bIns="0" rtlCol="0" anchor="ctr"/>
          <a:lstStyle/>
          <a:p>
            <a:pPr marL="0" indent="0">
              <a:buNone/>
            </a:pPr>
            <a:r>
              <a:rPr lang="en-US" sz="1250" b="1" dirty="0">
                <a:solidFill>
                  <a:srgbClr val="26303A"/>
                </a:solidFill>
                <a:latin typeface="Trebuchet MS" pitchFamily="34" charset="0"/>
                <a:ea typeface="Trebuchet MS" pitchFamily="34" charset="-122"/>
                <a:cs typeface="Trebuchet MS" pitchFamily="34" charset="-120"/>
              </a:rPr>
              <a:t>Supplier governance</a:t>
            </a:r>
            <a:endParaRPr lang="en-US" sz="1250" dirty="0"/>
          </a:p>
        </p:txBody>
      </p:sp>
      <p:sp>
        <p:nvSpPr>
          <p:cNvPr id="21" name="Text 17"/>
          <p:cNvSpPr/>
          <p:nvPr/>
        </p:nvSpPr>
        <p:spPr>
          <a:xfrm>
            <a:off x="2809494" y="3822192"/>
            <a:ext cx="1570482" cy="822960"/>
          </a:xfrm>
          <a:prstGeom prst="rect">
            <a:avLst/>
          </a:prstGeom>
          <a:noFill/>
          <a:ln/>
        </p:spPr>
        <p:txBody>
          <a:bodyPr wrap="square" lIns="0" tIns="0" rIns="0" bIns="0" rtlCol="0" anchor="ctr"/>
          <a:lstStyle/>
          <a:p>
            <a:pPr marL="0" indent="0">
              <a:lnSpc>
                <a:spcPct val="100000"/>
              </a:lnSpc>
              <a:buNone/>
            </a:pPr>
            <a:r>
              <a:rPr lang="en-US" sz="950" dirty="0">
                <a:solidFill>
                  <a:srgbClr val="6B7A82"/>
                </a:solidFill>
                <a:latin typeface="Calibri" pitchFamily="34" charset="0"/>
                <a:ea typeface="Calibri" pitchFamily="34" charset="-122"/>
                <a:cs typeface="Calibri" pitchFamily="34" charset="-120"/>
              </a:rPr>
              <a:t>Assess RawMatPlus contracts and qualify alternate sources for persistent delays.</a:t>
            </a:r>
            <a:endParaRPr lang="en-US" sz="950" dirty="0"/>
          </a:p>
        </p:txBody>
      </p:sp>
      <p:sp>
        <p:nvSpPr>
          <p:cNvPr id="22" name="Shape 18"/>
          <p:cNvSpPr/>
          <p:nvPr/>
        </p:nvSpPr>
        <p:spPr>
          <a:xfrm>
            <a:off x="5247513" y="1783080"/>
            <a:ext cx="731520" cy="731520"/>
          </a:xfrm>
          <a:prstGeom prst="ellipse">
            <a:avLst/>
          </a:prstGeom>
          <a:solidFill>
            <a:srgbClr val="0E7C86"/>
          </a:solidFill>
          <a:ln/>
        </p:spPr>
        <p:txBody>
          <a:bodyPr/>
          <a:lstStyle/>
          <a:p>
            <a:endParaRPr lang="en-US"/>
          </a:p>
        </p:txBody>
      </p:sp>
      <p:pic>
        <p:nvPicPr>
          <p:cNvPr id="23" name="Image 2" descr="preencoded.png"/>
          <p:cNvPicPr>
            <a:picLocks noChangeAspect="1"/>
          </p:cNvPicPr>
          <p:nvPr/>
        </p:nvPicPr>
        <p:blipFill>
          <a:blip r:embed="rId5"/>
          <a:stretch>
            <a:fillRect/>
          </a:stretch>
        </p:blipFill>
        <p:spPr>
          <a:xfrm>
            <a:off x="5421249" y="1956816"/>
            <a:ext cx="384048" cy="384048"/>
          </a:xfrm>
          <a:prstGeom prst="rect">
            <a:avLst/>
          </a:prstGeom>
        </p:spPr>
      </p:pic>
      <p:sp>
        <p:nvSpPr>
          <p:cNvPr id="24" name="Shape 19"/>
          <p:cNvSpPr/>
          <p:nvPr/>
        </p:nvSpPr>
        <p:spPr>
          <a:xfrm>
            <a:off x="4718304" y="2743200"/>
            <a:ext cx="1789938" cy="1965960"/>
          </a:xfrm>
          <a:prstGeom prst="rect">
            <a:avLst/>
          </a:prstGeom>
          <a:solidFill>
            <a:srgbClr val="F3F7F8"/>
          </a:solidFill>
          <a:ln w="12700">
            <a:solidFill>
              <a:srgbClr val="BFE6E6"/>
            </a:solidFill>
            <a:prstDash val="solid"/>
          </a:ln>
        </p:spPr>
        <p:txBody>
          <a:bodyPr/>
          <a:lstStyle/>
          <a:p>
            <a:endParaRPr lang="en-US"/>
          </a:p>
        </p:txBody>
      </p:sp>
      <p:sp>
        <p:nvSpPr>
          <p:cNvPr id="25" name="Shape 20"/>
          <p:cNvSpPr/>
          <p:nvPr/>
        </p:nvSpPr>
        <p:spPr>
          <a:xfrm>
            <a:off x="4718304" y="2743200"/>
            <a:ext cx="1789938" cy="54864"/>
          </a:xfrm>
          <a:prstGeom prst="rect">
            <a:avLst/>
          </a:prstGeom>
          <a:solidFill>
            <a:srgbClr val="0E7C86"/>
          </a:solidFill>
          <a:ln/>
        </p:spPr>
        <p:txBody>
          <a:bodyPr/>
          <a:lstStyle/>
          <a:p>
            <a:endParaRPr lang="en-US"/>
          </a:p>
        </p:txBody>
      </p:sp>
      <p:sp>
        <p:nvSpPr>
          <p:cNvPr id="26" name="Text 21"/>
          <p:cNvSpPr/>
          <p:nvPr/>
        </p:nvSpPr>
        <p:spPr>
          <a:xfrm>
            <a:off x="4828032" y="2889504"/>
            <a:ext cx="1570482" cy="256032"/>
          </a:xfrm>
          <a:prstGeom prst="rect">
            <a:avLst/>
          </a:prstGeom>
          <a:noFill/>
          <a:ln/>
        </p:spPr>
        <p:txBody>
          <a:bodyPr wrap="square" lIns="0" tIns="0" rIns="0" bIns="0" rtlCol="0" anchor="ctr"/>
          <a:lstStyle/>
          <a:p>
            <a:pPr marL="0" indent="0">
              <a:buNone/>
            </a:pPr>
            <a:r>
              <a:rPr lang="en-US" sz="1300" b="1" dirty="0">
                <a:solidFill>
                  <a:srgbClr val="0E7C86"/>
                </a:solidFill>
                <a:latin typeface="Trebuchet MS" pitchFamily="34" charset="0"/>
                <a:ea typeface="Trebuchet MS" pitchFamily="34" charset="-122"/>
                <a:cs typeface="Trebuchet MS" pitchFamily="34" charset="-120"/>
              </a:rPr>
              <a:t>Phase 3</a:t>
            </a:r>
            <a:endParaRPr lang="en-US" sz="1300" dirty="0"/>
          </a:p>
        </p:txBody>
      </p:sp>
      <p:sp>
        <p:nvSpPr>
          <p:cNvPr id="27" name="Text 22"/>
          <p:cNvSpPr/>
          <p:nvPr/>
        </p:nvSpPr>
        <p:spPr>
          <a:xfrm>
            <a:off x="4828032" y="3145536"/>
            <a:ext cx="1570482" cy="219456"/>
          </a:xfrm>
          <a:prstGeom prst="rect">
            <a:avLst/>
          </a:prstGeom>
          <a:noFill/>
          <a:ln/>
        </p:spPr>
        <p:txBody>
          <a:bodyPr wrap="square" lIns="0" tIns="0" rIns="0" bIns="0" rtlCol="0" anchor="ctr"/>
          <a:lstStyle/>
          <a:p>
            <a:pPr marL="0" indent="0">
              <a:buNone/>
            </a:pPr>
            <a:r>
              <a:rPr lang="en-US" sz="950" b="1" dirty="0">
                <a:solidFill>
                  <a:srgbClr val="6B7A82"/>
                </a:solidFill>
                <a:latin typeface="Calibri" pitchFamily="34" charset="0"/>
                <a:ea typeface="Calibri" pitchFamily="34" charset="-122"/>
                <a:cs typeface="Calibri" pitchFamily="34" charset="-120"/>
              </a:rPr>
              <a:t>60–90 days</a:t>
            </a:r>
            <a:endParaRPr lang="en-US" sz="950" dirty="0"/>
          </a:p>
        </p:txBody>
      </p:sp>
      <p:sp>
        <p:nvSpPr>
          <p:cNvPr id="28" name="Text 23"/>
          <p:cNvSpPr/>
          <p:nvPr/>
        </p:nvSpPr>
        <p:spPr>
          <a:xfrm>
            <a:off x="4828032" y="3401568"/>
            <a:ext cx="1570482" cy="457200"/>
          </a:xfrm>
          <a:prstGeom prst="rect">
            <a:avLst/>
          </a:prstGeom>
          <a:noFill/>
          <a:ln/>
        </p:spPr>
        <p:txBody>
          <a:bodyPr wrap="square" lIns="0" tIns="0" rIns="0" bIns="0" rtlCol="0" anchor="ctr"/>
          <a:lstStyle/>
          <a:p>
            <a:pPr marL="0" indent="0">
              <a:buNone/>
            </a:pPr>
            <a:r>
              <a:rPr lang="en-US" sz="1250" b="1" dirty="0">
                <a:solidFill>
                  <a:srgbClr val="26303A"/>
                </a:solidFill>
                <a:latin typeface="Trebuchet MS" pitchFamily="34" charset="0"/>
                <a:ea typeface="Trebuchet MS" pitchFamily="34" charset="-122"/>
                <a:cs typeface="Trebuchet MS" pitchFamily="34" charset="-120"/>
              </a:rPr>
              <a:t>Planning resilience</a:t>
            </a:r>
            <a:endParaRPr lang="en-US" sz="1250" dirty="0"/>
          </a:p>
        </p:txBody>
      </p:sp>
      <p:sp>
        <p:nvSpPr>
          <p:cNvPr id="29" name="Text 24"/>
          <p:cNvSpPr/>
          <p:nvPr/>
        </p:nvSpPr>
        <p:spPr>
          <a:xfrm>
            <a:off x="4828032" y="3822192"/>
            <a:ext cx="1570482" cy="822960"/>
          </a:xfrm>
          <a:prstGeom prst="rect">
            <a:avLst/>
          </a:prstGeom>
          <a:noFill/>
          <a:ln/>
        </p:spPr>
        <p:txBody>
          <a:bodyPr wrap="square" lIns="0" tIns="0" rIns="0" bIns="0" rtlCol="0" anchor="ctr"/>
          <a:lstStyle/>
          <a:p>
            <a:pPr marL="0" indent="0">
              <a:lnSpc>
                <a:spcPct val="100000"/>
              </a:lnSpc>
              <a:buNone/>
            </a:pPr>
            <a:r>
              <a:rPr lang="en-US" sz="950" dirty="0">
                <a:solidFill>
                  <a:srgbClr val="6B7A82"/>
                </a:solidFill>
                <a:latin typeface="Calibri" pitchFamily="34" charset="0"/>
                <a:ea typeface="Calibri" pitchFamily="34" charset="-122"/>
                <a:cs typeface="Calibri" pitchFamily="34" charset="-120"/>
              </a:rPr>
              <a:t>Recalibrate safety stock and reorder points; deploy dynamic replenishment models.</a:t>
            </a:r>
            <a:endParaRPr lang="en-US" sz="950" dirty="0"/>
          </a:p>
        </p:txBody>
      </p:sp>
      <p:sp>
        <p:nvSpPr>
          <p:cNvPr id="30" name="Shape 25"/>
          <p:cNvSpPr/>
          <p:nvPr/>
        </p:nvSpPr>
        <p:spPr>
          <a:xfrm>
            <a:off x="7266051" y="1783080"/>
            <a:ext cx="731520" cy="731520"/>
          </a:xfrm>
          <a:prstGeom prst="ellipse">
            <a:avLst/>
          </a:prstGeom>
          <a:solidFill>
            <a:srgbClr val="0E7C86"/>
          </a:solidFill>
          <a:ln/>
        </p:spPr>
        <p:txBody>
          <a:bodyPr/>
          <a:lstStyle/>
          <a:p>
            <a:endParaRPr lang="en-US"/>
          </a:p>
        </p:txBody>
      </p:sp>
      <p:pic>
        <p:nvPicPr>
          <p:cNvPr id="31" name="Image 3" descr="preencoded.png"/>
          <p:cNvPicPr>
            <a:picLocks noChangeAspect="1"/>
          </p:cNvPicPr>
          <p:nvPr/>
        </p:nvPicPr>
        <p:blipFill>
          <a:blip r:embed="rId6"/>
          <a:stretch>
            <a:fillRect/>
          </a:stretch>
        </p:blipFill>
        <p:spPr>
          <a:xfrm>
            <a:off x="7439787" y="1956816"/>
            <a:ext cx="384048" cy="384048"/>
          </a:xfrm>
          <a:prstGeom prst="rect">
            <a:avLst/>
          </a:prstGeom>
        </p:spPr>
      </p:pic>
      <p:sp>
        <p:nvSpPr>
          <p:cNvPr id="32" name="Shape 26"/>
          <p:cNvSpPr/>
          <p:nvPr/>
        </p:nvSpPr>
        <p:spPr>
          <a:xfrm>
            <a:off x="6736842" y="2743200"/>
            <a:ext cx="1789938" cy="1965960"/>
          </a:xfrm>
          <a:prstGeom prst="rect">
            <a:avLst/>
          </a:prstGeom>
          <a:solidFill>
            <a:srgbClr val="F3F7F8"/>
          </a:solidFill>
          <a:ln w="12700">
            <a:solidFill>
              <a:srgbClr val="BFE6E6"/>
            </a:solidFill>
            <a:prstDash val="solid"/>
          </a:ln>
        </p:spPr>
        <p:txBody>
          <a:bodyPr/>
          <a:lstStyle/>
          <a:p>
            <a:endParaRPr lang="en-US"/>
          </a:p>
        </p:txBody>
      </p:sp>
      <p:sp>
        <p:nvSpPr>
          <p:cNvPr id="33" name="Shape 27"/>
          <p:cNvSpPr/>
          <p:nvPr/>
        </p:nvSpPr>
        <p:spPr>
          <a:xfrm>
            <a:off x="6736842" y="2743200"/>
            <a:ext cx="1789938" cy="54864"/>
          </a:xfrm>
          <a:prstGeom prst="rect">
            <a:avLst/>
          </a:prstGeom>
          <a:solidFill>
            <a:srgbClr val="0E7C86"/>
          </a:solidFill>
          <a:ln/>
        </p:spPr>
        <p:txBody>
          <a:bodyPr/>
          <a:lstStyle/>
          <a:p>
            <a:endParaRPr lang="en-US"/>
          </a:p>
        </p:txBody>
      </p:sp>
      <p:sp>
        <p:nvSpPr>
          <p:cNvPr id="34" name="Text 28"/>
          <p:cNvSpPr/>
          <p:nvPr/>
        </p:nvSpPr>
        <p:spPr>
          <a:xfrm>
            <a:off x="6846570" y="2889504"/>
            <a:ext cx="1570482" cy="256032"/>
          </a:xfrm>
          <a:prstGeom prst="rect">
            <a:avLst/>
          </a:prstGeom>
          <a:noFill/>
          <a:ln/>
        </p:spPr>
        <p:txBody>
          <a:bodyPr wrap="square" lIns="0" tIns="0" rIns="0" bIns="0" rtlCol="0" anchor="ctr"/>
          <a:lstStyle/>
          <a:p>
            <a:pPr marL="0" indent="0">
              <a:buNone/>
            </a:pPr>
            <a:r>
              <a:rPr lang="en-US" sz="1300" b="1" dirty="0">
                <a:solidFill>
                  <a:srgbClr val="0E7C86"/>
                </a:solidFill>
                <a:latin typeface="Trebuchet MS" pitchFamily="34" charset="0"/>
                <a:ea typeface="Trebuchet MS" pitchFamily="34" charset="-122"/>
                <a:cs typeface="Trebuchet MS" pitchFamily="34" charset="-120"/>
              </a:rPr>
              <a:t>Ongoing</a:t>
            </a:r>
            <a:endParaRPr lang="en-US" sz="1300" dirty="0"/>
          </a:p>
        </p:txBody>
      </p:sp>
      <p:sp>
        <p:nvSpPr>
          <p:cNvPr id="35" name="Text 29"/>
          <p:cNvSpPr/>
          <p:nvPr/>
        </p:nvSpPr>
        <p:spPr>
          <a:xfrm>
            <a:off x="6846570" y="3145536"/>
            <a:ext cx="1570482" cy="219456"/>
          </a:xfrm>
          <a:prstGeom prst="rect">
            <a:avLst/>
          </a:prstGeom>
          <a:noFill/>
          <a:ln/>
        </p:spPr>
        <p:txBody>
          <a:bodyPr wrap="square" lIns="0" tIns="0" rIns="0" bIns="0" rtlCol="0" anchor="ctr"/>
          <a:lstStyle/>
          <a:p>
            <a:pPr marL="0" indent="0">
              <a:buNone/>
            </a:pPr>
            <a:r>
              <a:rPr lang="en-US" sz="950" b="1" dirty="0">
                <a:solidFill>
                  <a:srgbClr val="6B7A82"/>
                </a:solidFill>
                <a:latin typeface="Calibri" pitchFamily="34" charset="0"/>
                <a:ea typeface="Calibri" pitchFamily="34" charset="-122"/>
                <a:cs typeface="Calibri" pitchFamily="34" charset="-120"/>
              </a:rPr>
              <a:t>Quarterly</a:t>
            </a:r>
            <a:endParaRPr lang="en-US" sz="950" dirty="0"/>
          </a:p>
        </p:txBody>
      </p:sp>
      <p:sp>
        <p:nvSpPr>
          <p:cNvPr id="36" name="Text 30"/>
          <p:cNvSpPr/>
          <p:nvPr/>
        </p:nvSpPr>
        <p:spPr>
          <a:xfrm>
            <a:off x="6846570" y="3401568"/>
            <a:ext cx="1570482" cy="457200"/>
          </a:xfrm>
          <a:prstGeom prst="rect">
            <a:avLst/>
          </a:prstGeom>
          <a:noFill/>
          <a:ln/>
        </p:spPr>
        <p:txBody>
          <a:bodyPr wrap="square" lIns="0" tIns="0" rIns="0" bIns="0" rtlCol="0" anchor="ctr"/>
          <a:lstStyle/>
          <a:p>
            <a:pPr marL="0" indent="0">
              <a:buNone/>
            </a:pPr>
            <a:r>
              <a:rPr lang="en-US" sz="1250" b="1" dirty="0">
                <a:solidFill>
                  <a:srgbClr val="26303A"/>
                </a:solidFill>
                <a:latin typeface="Trebuchet MS" pitchFamily="34" charset="0"/>
                <a:ea typeface="Trebuchet MS" pitchFamily="34" charset="-122"/>
                <a:cs typeface="Trebuchet MS" pitchFamily="34" charset="-120"/>
              </a:rPr>
              <a:t>Monitor &amp; audit</a:t>
            </a:r>
            <a:endParaRPr lang="en-US" sz="1250" dirty="0"/>
          </a:p>
        </p:txBody>
      </p:sp>
      <p:sp>
        <p:nvSpPr>
          <p:cNvPr id="37" name="Text 31"/>
          <p:cNvSpPr/>
          <p:nvPr/>
        </p:nvSpPr>
        <p:spPr>
          <a:xfrm>
            <a:off x="6846570" y="3822192"/>
            <a:ext cx="1570482" cy="822960"/>
          </a:xfrm>
          <a:prstGeom prst="rect">
            <a:avLst/>
          </a:prstGeom>
          <a:noFill/>
          <a:ln/>
        </p:spPr>
        <p:txBody>
          <a:bodyPr wrap="square" lIns="0" tIns="0" rIns="0" bIns="0" rtlCol="0" anchor="ctr"/>
          <a:lstStyle/>
          <a:p>
            <a:pPr marL="0" indent="0">
              <a:lnSpc>
                <a:spcPct val="100000"/>
              </a:lnSpc>
              <a:buNone/>
            </a:pPr>
            <a:r>
              <a:rPr lang="en-US" sz="950" dirty="0">
                <a:solidFill>
                  <a:srgbClr val="6B7A82"/>
                </a:solidFill>
                <a:latin typeface="Calibri" pitchFamily="34" charset="0"/>
                <a:ea typeface="Calibri" pitchFamily="34" charset="-122"/>
                <a:cs typeface="Calibri" pitchFamily="34" charset="-120"/>
              </a:rPr>
              <a:t>Run the mitigation scorecard across delivery, reliability, defect, and lead-time.</a:t>
            </a:r>
            <a:endParaRPr lang="en-US" sz="950" dirty="0"/>
          </a:p>
        </p:txBody>
      </p:sp>
      <p:sp>
        <p:nvSpPr>
          <p:cNvPr id="38" name="Text 32"/>
          <p:cNvSpPr/>
          <p:nvPr/>
        </p:nvSpPr>
        <p:spPr>
          <a:xfrm>
            <a:off x="502920" y="4828032"/>
            <a:ext cx="5486400" cy="256032"/>
          </a:xfrm>
          <a:prstGeom prst="rect">
            <a:avLst/>
          </a:prstGeom>
          <a:noFill/>
          <a:ln/>
        </p:spPr>
        <p:txBody>
          <a:bodyPr wrap="square" lIns="0" tIns="0" rIns="0" bIns="0" rtlCol="0" anchor="ctr"/>
          <a:lstStyle/>
          <a:p>
            <a:pPr marL="0" indent="0">
              <a:buNone/>
            </a:pPr>
            <a:r>
              <a:rPr lang="en-US" sz="900" dirty="0">
                <a:solidFill>
                  <a:srgbClr val="6B7A82"/>
                </a:solidFill>
                <a:latin typeface="Calibri" pitchFamily="34" charset="0"/>
                <a:ea typeface="Calibri" pitchFamily="34" charset="-122"/>
                <a:cs typeface="Calibri" pitchFamily="34" charset="-120"/>
              </a:rPr>
              <a:t>Supply Chain Issue Compliance Report</a:t>
            </a:r>
            <a:endParaRPr lang="en-US" sz="900" dirty="0"/>
          </a:p>
        </p:txBody>
      </p:sp>
      <p:sp>
        <p:nvSpPr>
          <p:cNvPr id="39" name="Text 3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6B7A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ca48ea3-8c75-4d36-b64f-70604b11fd22}" enabled="1" method="Standard" siteId="{3ac94b33-9135-4821-9502-eafda6592a35}" contentBits="0" removed="0"/>
</clbl:labelList>
</file>

<file path=docProps/app.xml><?xml version="1.0" encoding="utf-8"?>
<Properties xmlns="http://schemas.openxmlformats.org/officeDocument/2006/extended-properties" xmlns:vt="http://schemas.openxmlformats.org/officeDocument/2006/docPropsVTypes">
  <TotalTime>18</TotalTime>
  <Words>996</Words>
  <Application>Microsoft Office PowerPoint</Application>
  <PresentationFormat>On-screen Show (16:9)</PresentationFormat>
  <Paragraphs>76</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Shukla, Khushboo [GTSUS]</dc:creator>
  <cp:lastModifiedBy>Shukla, Khushboo [GTSUS]</cp:lastModifiedBy>
  <cp:revision>1</cp:revision>
  <dcterms:created xsi:type="dcterms:W3CDTF">2026-07-04T13:09:06Z</dcterms:created>
  <dcterms:modified xsi:type="dcterms:W3CDTF">2026-07-04T13:27:48Z</dcterms:modified>
</cp:coreProperties>
</file>